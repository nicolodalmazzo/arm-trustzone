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 showSpecialPlsOnTitleSld="0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9906000" cy="6858000" type="A4"/>
  <p:notesSz cx="6858000" cy="9144000"/>
  <p:defaultTextStyle>
    <a:defPPr>
      <a:defRPr lang="en-GB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32" d="41"/>
          <a:sy n="111" d="122"/>
        </p:scale>
        <p:origin x="68" y="105"/>
      </p:cViewPr>
      <p:guideLst>
        <p:guide pos="312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 /><Relationship Id="rId27" Type="http://schemas.openxmlformats.org/officeDocument/2006/relationships/tableStyles" Target="tableStyles.xml" /><Relationship Id="rId2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2813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54732339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86128137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23757192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931170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80836655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 ftr="0" hdr="0" sldNum="1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46693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083828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3339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F5156-8110-4AA1-43A2-7E826389B8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59231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38397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719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88AD98-A071-7668-C78D-BE5357F7EE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45316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7704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74960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BED46-DD4C-B4F6-6901-E69992A68C9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0430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31051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5556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9824A5-6C64-E501-E8FE-617B1621621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6139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311327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2282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D9751E-D879-0785-CED1-6F212024F8A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89832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88786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1954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9AC263-E39D-28D9-C216-D7135E02FAE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71472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882327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1447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54171F-83F8-7200-154E-E85F0B51B9F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15806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4502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988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1C0126-3EE4-344C-A7C3-9D8F7F63521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12586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56572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57874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5546F5-B611-573A-3D20-5639F800289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18962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70888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5067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648E40-9507-8883-8435-CB8DD979A67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54658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0838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584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5FABDD1-EA0F-959F-7502-0B7492C02FA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14374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04353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0344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C2A4A5-D291-5EF4-5688-CE24BF61334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3657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57330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7257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E0566D-7517-5F88-B746-36E827FAE87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431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650875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9519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1DF540-B378-CE41-8A73-B61B4BE2AC0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23124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165549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8015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4DB19F-7E1C-2E89-C7C9-A1AAA861551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1113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388856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880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EE6C1F2-DCB1-483B-AF6F-1F67FA5C0C9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64589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08940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09053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790AEFA-AD1D-3ABB-654D-40337D37FBF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82325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19131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888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69F78AB-BFA9-A13D-6031-7686C7365F8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65857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7981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3440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9213EE-9338-67BA-E130-3C5B55413AE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92513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10500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7643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4AE64A-1496-0EE7-B09A-5F2A6BD149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74929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30437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780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5A904CD-801B-9575-FB21-87A0399AE70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a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5682155" name="Titolo 1"/>
          <p:cNvSpPr>
            <a:spLocks noGrp="1"/>
          </p:cNvSpPr>
          <p:nvPr>
            <p:ph type="ctrTitle"/>
          </p:nvPr>
        </p:nvSpPr>
        <p:spPr bwMode="auto"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9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877314596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50"/>
            </a:lvl2pPr>
            <a:lvl3pPr marL="742950" indent="0" algn="ctr">
              <a:buNone/>
              <a:defRPr sz="1450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  <a:endParaRPr lang="de-DE"/>
          </a:p>
        </p:txBody>
      </p:sp>
      <p:sp>
        <p:nvSpPr>
          <p:cNvPr id="1790186000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64A8E5F-40E5-4553-9F3C-699F1A5B8145}" type="datetimeFigureOut">
              <a:rPr lang="de-DE"/>
              <a:t>13.01.2026</a:t>
            </a:fld>
            <a:endParaRPr lang="de-DE"/>
          </a:p>
        </p:txBody>
      </p:sp>
      <p:sp>
        <p:nvSpPr>
          <p:cNvPr id="1590781390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1668940144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6CD45B7-DFE2-4393-8D37-380FC36BF3AA}" type="slidenum">
              <a:rPr lang="de-DE"/>
              <a:t>1</a:t>
            </a:fld>
            <a:endParaRPr lang="de-D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olo e contenu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7213083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1870676913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de-DE"/>
          </a:p>
        </p:txBody>
      </p:sp>
      <p:sp>
        <p:nvSpPr>
          <p:cNvPr id="1646249001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64A8E5F-40E5-4553-9F3C-699F1A5B8145}" type="datetimeFigureOut">
              <a:rPr lang="de-DE"/>
              <a:t>13.01.2026</a:t>
            </a:fld>
            <a:endParaRPr lang="de-DE"/>
          </a:p>
        </p:txBody>
      </p:sp>
      <p:sp>
        <p:nvSpPr>
          <p:cNvPr id="9475279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1403286793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6CD45B7-DFE2-4393-8D37-380FC36BF3AA}" type="slidenum">
              <a:rPr lang="de-DE"/>
              <a:t>21</a:t>
            </a:fld>
            <a:endParaRPr lang="de-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Intestazione sezion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531709" name="Titolo 1"/>
          <p:cNvSpPr>
            <a:spLocks noGrp="1"/>
          </p:cNvSpPr>
          <p:nvPr>
            <p:ph type="title"/>
          </p:nvPr>
        </p:nvSpPr>
        <p:spPr bwMode="auto">
          <a:xfrm>
            <a:off x="675878" y="1709739"/>
            <a:ext cx="8543925" cy="2852737"/>
          </a:xfrm>
        </p:spPr>
        <p:txBody>
          <a:bodyPr anchor="b"/>
          <a:lstStyle>
            <a:lvl1pPr>
              <a:defRPr sz="49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2146893244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675878" y="4589464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82000"/>
                  </a:schemeClr>
                </a:solidFill>
              </a:defRPr>
            </a:lvl1pPr>
            <a:lvl2pPr marL="371475" indent="0">
              <a:buNone/>
              <a:defRPr sz="1650">
                <a:solidFill>
                  <a:schemeClr val="tx1">
                    <a:tint val="82000"/>
                  </a:schemeClr>
                </a:solidFill>
              </a:defRPr>
            </a:lvl2pPr>
            <a:lvl3pPr marL="742950" indent="0">
              <a:buNone/>
              <a:defRPr sz="1450">
                <a:solidFill>
                  <a:schemeClr val="tx1">
                    <a:tint val="82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773893731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64A8E5F-40E5-4553-9F3C-699F1A5B8145}" type="datetimeFigureOut">
              <a:rPr lang="de-DE"/>
              <a:t>13.01.2026</a:t>
            </a:fld>
            <a:endParaRPr lang="de-DE"/>
          </a:p>
        </p:txBody>
      </p:sp>
      <p:sp>
        <p:nvSpPr>
          <p:cNvPr id="674878262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1531399354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6CD45B7-DFE2-4393-8D37-380FC36BF3AA}" type="slidenum">
              <a:rPr lang="de-DE"/>
              <a:t>&lt;#&gt;</a:t>
            </a:fld>
            <a:endParaRPr lang="de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ue contenuti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578651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1703705786" name="Segnaposto contenuto 2"/>
          <p:cNvSpPr>
            <a:spLocks noGrp="1"/>
          </p:cNvSpPr>
          <p:nvPr>
            <p:ph sz="half" idx="1"/>
          </p:nvPr>
        </p:nvSpPr>
        <p:spPr bwMode="auto">
          <a:xfrm>
            <a:off x="681037" y="1825625"/>
            <a:ext cx="421005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de-DE"/>
          </a:p>
        </p:txBody>
      </p:sp>
      <p:sp>
        <p:nvSpPr>
          <p:cNvPr id="1967382076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5014913" y="1825625"/>
            <a:ext cx="421005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de-DE"/>
          </a:p>
        </p:txBody>
      </p:sp>
      <p:sp>
        <p:nvSpPr>
          <p:cNvPr id="2146921100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64A8E5F-40E5-4553-9F3C-699F1A5B8145}" type="datetimeFigureOut">
              <a:rPr lang="de-DE"/>
              <a:t>13.01.2026</a:t>
            </a:fld>
            <a:endParaRPr lang="de-DE"/>
          </a:p>
        </p:txBody>
      </p:sp>
      <p:sp>
        <p:nvSpPr>
          <p:cNvPr id="184800856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1017818043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6CD45B7-DFE2-4393-8D37-380FC36BF3AA}" type="slidenum">
              <a:rPr lang="de-DE"/>
              <a:t>&lt;#&gt;</a:t>
            </a:fld>
            <a:endParaRPr lang="de-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nfron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4224909" name="Titolo 1"/>
          <p:cNvSpPr>
            <a:spLocks noGrp="1"/>
          </p:cNvSpPr>
          <p:nvPr>
            <p:ph type="title"/>
          </p:nvPr>
        </p:nvSpPr>
        <p:spPr bwMode="auto">
          <a:xfrm>
            <a:off x="682328" y="365126"/>
            <a:ext cx="8543925" cy="1325563"/>
          </a:xfrm>
        </p:spPr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1767264594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682328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50" b="1"/>
            </a:lvl2pPr>
            <a:lvl3pPr marL="742950" indent="0">
              <a:buNone/>
              <a:defRPr sz="1450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013447144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682328" y="2505074"/>
            <a:ext cx="4190702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de-DE"/>
          </a:p>
        </p:txBody>
      </p:sp>
      <p:sp>
        <p:nvSpPr>
          <p:cNvPr id="842504031" name="Segnaposto testo 4"/>
          <p:cNvSpPr>
            <a:spLocks noGrp="1"/>
          </p:cNvSpPr>
          <p:nvPr>
            <p:ph type="body" sz="quarter" idx="3"/>
          </p:nvPr>
        </p:nvSpPr>
        <p:spPr bwMode="auto"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50" b="1"/>
            </a:lvl2pPr>
            <a:lvl3pPr marL="742950" indent="0">
              <a:buNone/>
              <a:defRPr sz="1450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135301549" name="Segnaposto contenuto 5"/>
          <p:cNvSpPr>
            <a:spLocks noGrp="1"/>
          </p:cNvSpPr>
          <p:nvPr>
            <p:ph sz="quarter" idx="4"/>
          </p:nvPr>
        </p:nvSpPr>
        <p:spPr bwMode="auto">
          <a:xfrm>
            <a:off x="5014913" y="2505074"/>
            <a:ext cx="4211340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de-DE"/>
          </a:p>
        </p:txBody>
      </p:sp>
      <p:sp>
        <p:nvSpPr>
          <p:cNvPr id="1511758314" name="Segnaposto data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64A8E5F-40E5-4553-9F3C-699F1A5B8145}" type="datetimeFigureOut">
              <a:rPr lang="de-DE"/>
              <a:t>13.01.2026</a:t>
            </a:fld>
            <a:endParaRPr lang="de-DE"/>
          </a:p>
        </p:txBody>
      </p:sp>
      <p:sp>
        <p:nvSpPr>
          <p:cNvPr id="1202206084" name="Segnaposto piè di pagina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353579692" name="Segnaposto numero diapositiva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6CD45B7-DFE2-4393-8D37-380FC36BF3AA}" type="slidenum">
              <a:rPr lang="de-DE"/>
              <a:t>&lt;#&gt;</a:t>
            </a:fld>
            <a:endParaRPr lang="de-D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Solo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657909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677620063" name="Segnaposto data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64A8E5F-40E5-4553-9F3C-699F1A5B8145}" type="datetimeFigureOut">
              <a:rPr lang="de-DE"/>
              <a:t>13.01.2026</a:t>
            </a:fld>
            <a:endParaRPr lang="de-DE"/>
          </a:p>
        </p:txBody>
      </p:sp>
      <p:sp>
        <p:nvSpPr>
          <p:cNvPr id="1759520257" name="Segnaposto piè di pagina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1168775250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6CD45B7-DFE2-4393-8D37-380FC36BF3AA}" type="slidenum">
              <a:rPr lang="de-DE"/>
              <a:t>&lt;#&gt;</a:t>
            </a:fld>
            <a:endParaRPr lang="de-D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Vuot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2066173" name="Segnaposto data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64A8E5F-40E5-4553-9F3C-699F1A5B8145}" type="datetimeFigureOut">
              <a:rPr lang="de-DE"/>
              <a:t>13.01.2026</a:t>
            </a:fld>
            <a:endParaRPr lang="de-DE"/>
          </a:p>
        </p:txBody>
      </p:sp>
      <p:sp>
        <p:nvSpPr>
          <p:cNvPr id="747844171" name="Segnaposto piè di pagina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1911375471" name="Segnaposto numero diapositiva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6CD45B7-DFE2-4393-8D37-380FC36BF3AA}" type="slidenum">
              <a:rPr lang="de-DE"/>
              <a:t>&lt;#&gt;</a:t>
            </a:fld>
            <a:endParaRPr lang="de-D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uto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2901201" name="Titolo 1"/>
          <p:cNvSpPr>
            <a:spLocks noGrp="1"/>
          </p:cNvSpPr>
          <p:nvPr>
            <p:ph type="title"/>
          </p:nvPr>
        </p:nvSpPr>
        <p:spPr bwMode="auto"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05988528" name="Segnaposto contenuto 2"/>
          <p:cNvSpPr>
            <a:spLocks noGrp="1"/>
          </p:cNvSpPr>
          <p:nvPr>
            <p:ph idx="1"/>
          </p:nvPr>
        </p:nvSpPr>
        <p:spPr bwMode="auto">
          <a:xfrm>
            <a:off x="4211340" y="987426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300"/>
            </a:lvl2pPr>
            <a:lvl3pPr>
              <a:defRPr sz="1950"/>
            </a:lvl3pPr>
            <a:lvl4pPr>
              <a:defRPr sz="1650"/>
            </a:lvl4pPr>
            <a:lvl5pPr>
              <a:defRPr sz="1650"/>
            </a:lvl5pPr>
            <a:lvl6pPr>
              <a:defRPr sz="1650"/>
            </a:lvl6pPr>
            <a:lvl7pPr>
              <a:defRPr sz="1650"/>
            </a:lvl7pPr>
            <a:lvl8pPr>
              <a:defRPr sz="1650"/>
            </a:lvl8pPr>
            <a:lvl9pPr>
              <a:defRPr sz="165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de-DE"/>
          </a:p>
        </p:txBody>
      </p:sp>
      <p:sp>
        <p:nvSpPr>
          <p:cNvPr id="957255702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50"/>
            </a:lvl2pPr>
            <a:lvl3pPr marL="742950" indent="0">
              <a:buNone/>
              <a:defRPr sz="1000"/>
            </a:lvl3pPr>
            <a:lvl4pPr marL="1114425" indent="0">
              <a:buNone/>
              <a:defRPr sz="800"/>
            </a:lvl4pPr>
            <a:lvl5pPr marL="1485900" indent="0">
              <a:buNone/>
              <a:defRPr sz="800"/>
            </a:lvl5pPr>
            <a:lvl6pPr marL="1857375" indent="0">
              <a:buNone/>
              <a:defRPr sz="800"/>
            </a:lvl6pPr>
            <a:lvl7pPr marL="2228850" indent="0">
              <a:buNone/>
              <a:defRPr sz="800"/>
            </a:lvl7pPr>
            <a:lvl8pPr marL="2600325" indent="0">
              <a:buNone/>
              <a:defRPr sz="800"/>
            </a:lvl8pPr>
            <a:lvl9pPr marL="2971800" indent="0">
              <a:buNone/>
              <a:defRPr sz="8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428588396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64A8E5F-40E5-4553-9F3C-699F1A5B8145}" type="datetimeFigureOut">
              <a:rPr lang="de-DE"/>
              <a:t>13.01.2026</a:t>
            </a:fld>
            <a:endParaRPr lang="de-DE"/>
          </a:p>
        </p:txBody>
      </p:sp>
      <p:sp>
        <p:nvSpPr>
          <p:cNvPr id="1696007722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985777543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6CD45B7-DFE2-4393-8D37-380FC36BF3AA}" type="slidenum">
              <a:rPr lang="de-DE"/>
              <a:t>&lt;#&gt;</a:t>
            </a:fld>
            <a:endParaRPr lang="de-D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Immagine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8166099" name="Titolo 1"/>
          <p:cNvSpPr>
            <a:spLocks noGrp="1"/>
          </p:cNvSpPr>
          <p:nvPr>
            <p:ph type="title"/>
          </p:nvPr>
        </p:nvSpPr>
        <p:spPr bwMode="auto"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1385500343" name="Segnaposto immagine 2"/>
          <p:cNvSpPr>
            <a:spLocks noGrp="1"/>
          </p:cNvSpPr>
          <p:nvPr>
            <p:ph type="pic" idx="1"/>
          </p:nvPr>
        </p:nvSpPr>
        <p:spPr bwMode="auto">
          <a:xfrm>
            <a:off x="4211340" y="987426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300"/>
            </a:lvl2pPr>
            <a:lvl3pPr marL="742950" indent="0">
              <a:buNone/>
              <a:defRPr sz="1950"/>
            </a:lvl3pPr>
            <a:lvl4pPr marL="1114425" indent="0">
              <a:buNone/>
              <a:defRPr sz="1650"/>
            </a:lvl4pPr>
            <a:lvl5pPr marL="1485900" indent="0">
              <a:buNone/>
              <a:defRPr sz="1650"/>
            </a:lvl5pPr>
            <a:lvl6pPr marL="1857375" indent="0">
              <a:buNone/>
              <a:defRPr sz="1650"/>
            </a:lvl6pPr>
            <a:lvl7pPr marL="2228850" indent="0">
              <a:buNone/>
              <a:defRPr sz="1650"/>
            </a:lvl7pPr>
            <a:lvl8pPr marL="2600325" indent="0">
              <a:buNone/>
              <a:defRPr sz="1650"/>
            </a:lvl8pPr>
            <a:lvl9pPr marL="2971800" indent="0">
              <a:buNone/>
              <a:defRPr sz="1650"/>
            </a:lvl9pPr>
          </a:lstStyle>
          <a:p>
            <a:pPr>
              <a:defRPr/>
            </a:pPr>
            <a:endParaRPr lang="de-DE"/>
          </a:p>
        </p:txBody>
      </p:sp>
      <p:sp>
        <p:nvSpPr>
          <p:cNvPr id="2067427556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50"/>
            </a:lvl2pPr>
            <a:lvl3pPr marL="742950" indent="0">
              <a:buNone/>
              <a:defRPr sz="1000"/>
            </a:lvl3pPr>
            <a:lvl4pPr marL="1114425" indent="0">
              <a:buNone/>
              <a:defRPr sz="800"/>
            </a:lvl4pPr>
            <a:lvl5pPr marL="1485900" indent="0">
              <a:buNone/>
              <a:defRPr sz="800"/>
            </a:lvl5pPr>
            <a:lvl6pPr marL="1857375" indent="0">
              <a:buNone/>
              <a:defRPr sz="800"/>
            </a:lvl6pPr>
            <a:lvl7pPr marL="2228850" indent="0">
              <a:buNone/>
              <a:defRPr sz="800"/>
            </a:lvl7pPr>
            <a:lvl8pPr marL="2600325" indent="0">
              <a:buNone/>
              <a:defRPr sz="800"/>
            </a:lvl8pPr>
            <a:lvl9pPr marL="2971800" indent="0">
              <a:buNone/>
              <a:defRPr sz="8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271592630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64A8E5F-40E5-4553-9F3C-699F1A5B8145}" type="datetimeFigureOut">
              <a:rPr lang="de-DE"/>
              <a:t>13.01.2026</a:t>
            </a:fld>
            <a:endParaRPr lang="de-DE"/>
          </a:p>
        </p:txBody>
      </p:sp>
      <p:sp>
        <p:nvSpPr>
          <p:cNvPr id="442380542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932466885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6CD45B7-DFE2-4393-8D37-380FC36BF3AA}" type="slidenum">
              <a:rPr lang="de-DE"/>
              <a:t>&lt;#&gt;</a:t>
            </a:fld>
            <a:endParaRPr lang="de-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788828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160365027" name="Segnaposto testo verticale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de-DE"/>
          </a:p>
        </p:txBody>
      </p:sp>
      <p:sp>
        <p:nvSpPr>
          <p:cNvPr id="126658017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64A8E5F-40E5-4553-9F3C-699F1A5B8145}" type="datetimeFigureOut">
              <a:rPr lang="de-DE"/>
              <a:t>13.01.2026</a:t>
            </a:fld>
            <a:endParaRPr lang="de-DE"/>
          </a:p>
        </p:txBody>
      </p:sp>
      <p:sp>
        <p:nvSpPr>
          <p:cNvPr id="405979412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632870797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6CD45B7-DFE2-4393-8D37-380FC36BF3AA}" type="slidenum">
              <a:rPr lang="de-DE"/>
              <a:t>&lt;#&gt;</a:t>
            </a:fld>
            <a:endParaRPr lang="de-D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9048258" name="Titolo verticale 1"/>
          <p:cNvSpPr>
            <a:spLocks noGrp="1"/>
          </p:cNvSpPr>
          <p:nvPr>
            <p:ph type="title" orient="vert"/>
          </p:nvPr>
        </p:nvSpPr>
        <p:spPr bwMode="auto">
          <a:xfrm>
            <a:off x="7088981" y="365125"/>
            <a:ext cx="2135981" cy="5811838"/>
          </a:xfrm>
        </p:spPr>
        <p:txBody>
          <a:bodyPr vert="eaVert"/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2107029402" name="Segnaposto testo verticale 2"/>
          <p:cNvSpPr>
            <a:spLocks noGrp="1"/>
          </p:cNvSpPr>
          <p:nvPr>
            <p:ph type="body" orient="vert" idx="1"/>
          </p:nvPr>
        </p:nvSpPr>
        <p:spPr bwMode="auto">
          <a:xfrm>
            <a:off x="681037" y="365125"/>
            <a:ext cx="6284119" cy="5811838"/>
          </a:xfrm>
        </p:spPr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de-DE"/>
          </a:p>
        </p:txBody>
      </p:sp>
      <p:sp>
        <p:nvSpPr>
          <p:cNvPr id="1575027787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64A8E5F-40E5-4553-9F3C-699F1A5B8145}" type="datetimeFigureOut">
              <a:rPr lang="de-DE"/>
              <a:t>13.01.2026</a:t>
            </a:fld>
            <a:endParaRPr lang="de-DE"/>
          </a:p>
        </p:txBody>
      </p:sp>
      <p:sp>
        <p:nvSpPr>
          <p:cNvPr id="2017761956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474117172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6CD45B7-DFE2-4393-8D37-380FC36BF3AA}" type="slidenum">
              <a:rPr lang="de-DE"/>
              <a:t>&lt;#&gt;</a:t>
            </a:fld>
            <a:endParaRPr lang="de-DE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19546" name="Segnaposto titolo 1"/>
          <p:cNvSpPr>
            <a:spLocks noGrp="1"/>
          </p:cNvSpPr>
          <p:nvPr>
            <p:ph type="title"/>
          </p:nvPr>
        </p:nvSpPr>
        <p:spPr bwMode="auto">
          <a:xfrm>
            <a:off x="681037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1312061994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681037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de-DE"/>
          </a:p>
        </p:txBody>
      </p:sp>
      <p:sp>
        <p:nvSpPr>
          <p:cNvPr id="1765946821" name="Segnaposto data 3"/>
          <p:cNvSpPr>
            <a:spLocks noGrp="1"/>
          </p:cNvSpPr>
          <p:nvPr>
            <p:ph type="dt" sz="half" idx="2"/>
          </p:nvPr>
        </p:nvSpPr>
        <p:spPr bwMode="auto">
          <a:xfrm>
            <a:off x="681037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F64A8E5F-40E5-4553-9F3C-699F1A5B8145}" type="datetimeFigureOut">
              <a:rPr lang="de-DE"/>
              <a:t>13.01.2026</a:t>
            </a:fld>
            <a:endParaRPr lang="de-DE"/>
          </a:p>
        </p:txBody>
      </p:sp>
      <p:sp>
        <p:nvSpPr>
          <p:cNvPr id="1636838384" name="Segnaposto piè di pagina 4"/>
          <p:cNvSpPr>
            <a:spLocks noGrp="1"/>
          </p:cNvSpPr>
          <p:nvPr>
            <p:ph type="ftr" sz="quarter" idx="3"/>
          </p:nvPr>
        </p:nvSpPr>
        <p:spPr bwMode="auto">
          <a:xfrm>
            <a:off x="3281363" y="6356351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408468736" name="Segnaposto numero diapositiva 5"/>
          <p:cNvSpPr>
            <a:spLocks noGrp="1"/>
          </p:cNvSpPr>
          <p:nvPr>
            <p:ph type="sldNum" sz="quarter" idx="4"/>
          </p:nvPr>
        </p:nvSpPr>
        <p:spPr bwMode="auto">
          <a:xfrm>
            <a:off x="6996113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66CD45B7-DFE2-4393-8D37-380FC36BF3AA}" type="slidenum">
              <a:rPr lang="de-DE"/>
              <a:t>21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1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media1.sv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media2.sv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www.ietf.org/archive/id/draft-ffm-rats-cca-token-02.html" TargetMode="Externa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www.rfc-editor.org/rfc/rfc9334" TargetMode="Externa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558572" name="Rectangle: Diagonal Corners Snipped 3"/>
          <p:cNvSpPr/>
          <p:nvPr/>
        </p:nvSpPr>
        <p:spPr bwMode="auto">
          <a:xfrm flipH="0" flipV="0">
            <a:off x="1238249" y="1121006"/>
            <a:ext cx="7429500" cy="4036366"/>
          </a:xfrm>
          <a:prstGeom prst="snip2DiagRect">
            <a:avLst>
              <a:gd name="adj1" fmla="val 28899"/>
              <a:gd name="adj2" fmla="val 0"/>
            </a:avLst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648536868" name="Titolo 1"/>
          <p:cNvSpPr>
            <a:spLocks noGrp="1"/>
          </p:cNvSpPr>
          <p:nvPr>
            <p:ph type="ctrTitle"/>
          </p:nvPr>
        </p:nvSpPr>
        <p:spPr bwMode="auto">
          <a:xfrm flipH="0" flipV="0">
            <a:off x="1238249" y="1945390"/>
            <a:ext cx="7429500" cy="238759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it-IT" sz="50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Arm CCA </a:t>
            </a:r>
            <a:r>
              <a:rPr lang="it-IT" sz="5000">
                <a:solidFill>
                  <a:schemeClr val="bg1"/>
                </a:solidFill>
                <a:latin typeface="Times New Roman"/>
              </a:rPr>
              <a:t>vs TrustZone:</a:t>
            </a:r>
            <a:br>
              <a:rPr lang="it-IT" sz="5000">
                <a:solidFill>
                  <a:schemeClr val="bg1"/>
                </a:solidFill>
                <a:latin typeface="Times New Roman"/>
              </a:rPr>
            </a:br>
            <a:r>
              <a:rPr lang="it-IT" sz="5000">
                <a:solidFill>
                  <a:schemeClr val="bg1"/>
                </a:solidFill>
                <a:latin typeface="Times New Roman"/>
              </a:rPr>
              <a:t>A Critical Comparative Review</a:t>
            </a:r>
            <a:endParaRPr lang="en-US" sz="4850">
              <a:solidFill>
                <a:schemeClr val="bg1"/>
              </a:solidFill>
              <a:latin typeface="Times New Roman"/>
            </a:endParaRPr>
          </a:p>
        </p:txBody>
      </p:sp>
      <p:sp>
        <p:nvSpPr>
          <p:cNvPr id="1060306939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1238250" y="5520360"/>
            <a:ext cx="7429500" cy="1655762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defRPr/>
            </a:pPr>
            <a:r>
              <a:rPr lang="de-DE" sz="2000">
                <a:latin typeface="Microsoft Sans Serif"/>
                <a:ea typeface="Microsoft Sans Serif"/>
                <a:cs typeface="Microsoft Sans Serif"/>
              </a:rPr>
              <a:t>Antonio Di </a:t>
            </a:r>
            <a:r>
              <a:rPr lang="de-DE" sz="2000">
                <a:latin typeface="Microsoft Sans Serif"/>
                <a:ea typeface="Microsoft Sans Serif"/>
                <a:cs typeface="Microsoft Sans Serif"/>
              </a:rPr>
              <a:t>Ponzio</a:t>
            </a:r>
            <a:r>
              <a:rPr lang="de-DE" sz="2000">
                <a:latin typeface="Microsoft Sans Serif"/>
                <a:ea typeface="Microsoft Sans Serif"/>
                <a:cs typeface="Microsoft Sans Serif"/>
              </a:rPr>
              <a:t> (s347920)</a:t>
            </a:r>
            <a:endParaRPr sz="2000"/>
          </a:p>
          <a:p>
            <a:pPr>
              <a:defRPr/>
            </a:pPr>
            <a:r>
              <a:rPr lang="de-DE" sz="2000">
                <a:latin typeface="Microsoft Sans Serif"/>
                <a:ea typeface="Microsoft Sans Serif"/>
                <a:cs typeface="Microsoft Sans Serif"/>
              </a:rPr>
              <a:t>Nicolò </a:t>
            </a:r>
            <a:r>
              <a:rPr lang="de-DE" sz="2000">
                <a:latin typeface="Microsoft Sans Serif"/>
                <a:ea typeface="Microsoft Sans Serif"/>
                <a:cs typeface="Microsoft Sans Serif"/>
              </a:rPr>
              <a:t>Dalmazzo</a:t>
            </a:r>
            <a:r>
              <a:rPr lang="de-DE" sz="2000">
                <a:latin typeface="Microsoft Sans Serif"/>
                <a:ea typeface="Microsoft Sans Serif"/>
                <a:cs typeface="Microsoft Sans Serif"/>
              </a:rPr>
              <a:t> (s338766)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034841" name="Titolo 1"/>
          <p:cNvSpPr>
            <a:spLocks noGrp="1"/>
          </p:cNvSpPr>
          <p:nvPr>
            <p:ph type="title"/>
          </p:nvPr>
        </p:nvSpPr>
        <p:spPr bwMode="auto">
          <a:xfrm>
            <a:off x="399540" y="130493"/>
            <a:ext cx="8537223" cy="742332"/>
          </a:xfrm>
        </p:spPr>
        <p:txBody>
          <a:bodyPr/>
          <a:lstStyle/>
          <a:p>
            <a:pPr>
              <a:defRPr/>
            </a:pPr>
            <a:r>
              <a:rPr lang="en-US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Table of Contents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2079067763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593907" y="940721"/>
            <a:ext cx="8543925" cy="501240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Why Confidential Computing</a:t>
            </a:r>
            <a:endParaRPr lang="en-US" sz="2000" b="1" i="0" u="none" strike="noStrike" cap="none" spc="0">
              <a:solidFill>
                <a:schemeClr val="tx1"/>
              </a:solidFill>
              <a:latin typeface="Microsoft Sans Serif"/>
              <a:ea typeface="Microsoft Sans Serif"/>
              <a:cs typeface="Microsoft Sans Serif"/>
            </a:endParaRPr>
          </a:p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Arm TrustZone</a:t>
            </a:r>
            <a:endParaRPr lang="en-US" sz="2000" b="1" i="0" u="none" strike="noStrike" cap="none" spc="0">
              <a:solidFill>
                <a:schemeClr val="tx1"/>
              </a:solidFill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Architecture and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Downsides</a:t>
            </a:r>
            <a:endParaRPr lang="en-US" sz="2000" b="0" i="0" u="none" strike="noStrike" cap="none" spc="0">
              <a:solidFill>
                <a:schemeClr val="tx1"/>
              </a:solidFill>
              <a:latin typeface="Microsoft Sans Serif"/>
              <a:ea typeface="Microsoft Sans Serif"/>
              <a:cs typeface="Microsoft Sans Serif"/>
            </a:endParaRPr>
          </a:p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Arm CCA</a:t>
            </a:r>
            <a:endParaRPr lang="en-US" sz="2000" b="1" i="0" u="none" strike="noStrike" cap="none" spc="0">
              <a:solidFill>
                <a:schemeClr val="tx1"/>
              </a:solidFill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Hardware and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Software Components</a:t>
            </a:r>
            <a:endParaRPr lang="en-US" sz="2000" b="0" i="0" u="none" strike="noStrike" cap="none" spc="0">
              <a:solidFill>
                <a:schemeClr val="tx1"/>
              </a:solidFill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Attestation in Arm CCA</a:t>
            </a:r>
            <a:endParaRPr lang="en-US" sz="2400" b="0" i="0" u="none" strike="noStrike" cap="none" spc="0">
              <a:solidFill>
                <a:schemeClr val="tx1"/>
              </a:solidFill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Delegated and Direct Attester</a:t>
            </a:r>
            <a:endParaRPr lang="en-US" sz="2000" b="0" i="0" u="none" strike="noStrike" cap="none" spc="0">
              <a:solidFill>
                <a:schemeClr val="tx1"/>
              </a:solidFill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TrustZone vs CCA</a:t>
            </a:r>
            <a:endParaRPr lang="en-US" sz="2000" b="1" i="0" u="none" strike="noStrike" cap="none" spc="0">
              <a:solidFill>
                <a:schemeClr val="tx1"/>
              </a:solidFill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architecture/use cases/attestation comparison and considerations</a:t>
            </a:r>
            <a:endParaRPr sz="2000" b="0" i="0" u="none" strike="noStrike" cap="none" spc="0">
              <a:solidFill>
                <a:schemeClr val="tx1"/>
              </a:solidFill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Conclusion</a:t>
            </a:r>
            <a:endParaRPr sz="1600" b="1" i="0" u="none" strike="noStrike" cap="none" spc="0">
              <a:solidFill>
                <a:schemeClr val="tx1"/>
              </a:solidFill>
              <a:latin typeface="Microsoft Sans Serif"/>
              <a:ea typeface="Microsoft Sans Serif"/>
              <a:cs typeface="Microsoft Sans Serif"/>
            </a:endParaRPr>
          </a:p>
          <a:p>
            <a:pPr algn="l" defTabSz="914400" rtl="0">
              <a:lnSpc>
                <a:spcPct val="90000"/>
              </a:lnSpc>
              <a:spcBef>
                <a:spcPts val="997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endParaRPr lang="en-US" sz="2000" b="1" i="0" u="none" strike="noStrike" cap="none" spc="0">
              <a:solidFill>
                <a:schemeClr val="tx1"/>
              </a:solidFill>
              <a:latin typeface="Microsoft Sans Serif"/>
              <a:ea typeface="Microsoft Sans Serif"/>
              <a:cs typeface="Microsoft Sans Serif"/>
            </a:endParaRPr>
          </a:p>
          <a:p>
            <a:pPr marL="0" lvl="0" indent="0" algn="l" defTabSz="914400" rtl="0">
              <a:lnSpc>
                <a:spcPct val="90000"/>
              </a:lnSpc>
              <a:spcBef>
                <a:spcPts val="49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None/>
              <a:defRPr/>
            </a:pPr>
            <a:endParaRPr lang="en-US" sz="2000" strike="noStrike" cap="none" spc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1046425782" name="Segnaposto piè di pagina 3"/>
          <p:cNvSpPr>
            <a:spLocks noGrp="1"/>
          </p:cNvSpPr>
          <p:nvPr>
            <p:ph type="ftr" sz="quarter" idx="11"/>
          </p:nvPr>
        </p:nvSpPr>
        <p:spPr bwMode="auto">
          <a:xfrm>
            <a:off x="691064" y="6356350"/>
            <a:ext cx="7954174" cy="365125"/>
          </a:xfrm>
        </p:spPr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1619897580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6CD45B7-DFE2-4393-8D37-380FC36BF3AA}" type="slidenum">
              <a:rPr lang="de-DE"/>
              <a:t>2</a:t>
            </a:fld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2097211" name="Titolo 1"/>
          <p:cNvSpPr>
            <a:spLocks noGrp="1"/>
          </p:cNvSpPr>
          <p:nvPr>
            <p:ph type="title"/>
          </p:nvPr>
        </p:nvSpPr>
        <p:spPr bwMode="auto">
          <a:xfrm>
            <a:off x="399539" y="130492"/>
            <a:ext cx="8537222" cy="742331"/>
          </a:xfrm>
        </p:spPr>
        <p:txBody>
          <a:bodyPr/>
          <a:lstStyle/>
          <a:p>
            <a:pPr>
              <a:defRPr/>
            </a:pPr>
            <a:r>
              <a:rPr lang="en-GB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Why</a:t>
            </a:r>
            <a:r>
              <a:rPr lang="it-IT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 </a:t>
            </a:r>
            <a:r>
              <a:rPr lang="en-GB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Confidential</a:t>
            </a:r>
            <a:r>
              <a:rPr lang="en-GB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 </a:t>
            </a:r>
            <a:r>
              <a:rPr lang="it-IT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Computing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141884465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593905" y="940719"/>
            <a:ext cx="8543925" cy="530703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cloud environments host large variety of services</a:t>
            </a:r>
            <a:endParaRPr lang="it-IT" sz="20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 algn="l" defTabSz="914400" rtl="0">
              <a:lnSpc>
                <a:spcPct val="10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machine learning models</a:t>
            </a:r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 algn="l" defTabSz="914400" rtl="0">
              <a:lnSpc>
                <a:spcPct val="10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multimedia services</a:t>
            </a:r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 algn="l" defTabSz="914400" rtl="0">
              <a:lnSpc>
                <a:spcPct val="10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web applications</a:t>
            </a:r>
            <a:endParaRPr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large adoption of multi-tenant environments</a:t>
            </a:r>
            <a:endParaRPr sz="2000" strike="noStrike" cap="none" spc="0"/>
          </a:p>
          <a:p>
            <a:pPr lvl="1" algn="l" defTabSz="914400" rtl="0">
              <a:lnSpc>
                <a:spcPct val="10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multiple workloads coexist on same device</a:t>
            </a:r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need guarantees of isolation for sensitive computations</a:t>
            </a:r>
            <a:endParaRPr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confidential</a:t>
            </a: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 computing </a:t>
            </a: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protects</a:t>
            </a: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 data in use in terms of</a:t>
            </a:r>
            <a:endParaRPr lang="en-US"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strike="noStrike" cap="none" spc="0">
                <a:latin typeface="Microsoft Sans Serif"/>
                <a:ea typeface="Microsoft Sans Serif"/>
                <a:cs typeface="Microsoft Sans Serif"/>
              </a:rPr>
              <a:t>confidentiality</a:t>
            </a:r>
            <a:endParaRPr lang="en-US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strike="noStrike" cap="none" spc="0">
                <a:latin typeface="Microsoft Sans Serif"/>
                <a:ea typeface="Microsoft Sans Serif"/>
                <a:cs typeface="Microsoft Sans Serif"/>
              </a:rPr>
              <a:t>integrity</a:t>
            </a:r>
            <a:endParaRPr lang="en-US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accent1"/>
              </a:buClr>
              <a:buSzPct val="150000"/>
              <a:buFont typeface="Wingdings"/>
              <a:buChar char="§"/>
              <a:defRPr/>
            </a:pPr>
            <a:r>
              <a:rPr lang="it-IT" sz="2000" b="1" strike="noStrike" cap="none" spc="0">
                <a:latin typeface="Microsoft Sans Serif"/>
                <a:ea typeface="Microsoft Sans Serif"/>
                <a:cs typeface="Microsoft Sans Serif"/>
              </a:rPr>
              <a:t>two distinct security extensions for Arm architecture</a:t>
            </a:r>
            <a:endParaRPr lang="en-US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strike="noStrike" cap="none" spc="0">
                <a:latin typeface="Microsoft Sans Serif"/>
                <a:ea typeface="Microsoft Sans Serif"/>
                <a:cs typeface="Microsoft Sans Serif"/>
              </a:rPr>
              <a:t>TrustZone</a:t>
            </a:r>
            <a:endParaRPr lang="en-US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strike="noStrike" cap="none" spc="0">
                <a:latin typeface="Microsoft Sans Serif"/>
                <a:ea typeface="Microsoft Sans Serif"/>
                <a:cs typeface="Microsoft Sans Serif"/>
              </a:rPr>
              <a:t>Confidential Compute Architecture (CCA)</a:t>
            </a:r>
            <a:endParaRPr lang="en-US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marL="0" lvl="0" indent="0" algn="l" defTabSz="914400" rtl="0">
              <a:lnSpc>
                <a:spcPct val="90000"/>
              </a:lnSpc>
              <a:spcBef>
                <a:spcPts val="498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None/>
              <a:defRPr/>
            </a:pPr>
            <a:endParaRPr lang="en-US" sz="2000" strike="noStrike" cap="none" spc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800467397" name="Segnaposto piè di pagina 3"/>
          <p:cNvSpPr>
            <a:spLocks noGrp="1"/>
          </p:cNvSpPr>
          <p:nvPr>
            <p:ph type="ftr" sz="quarter" idx="11"/>
          </p:nvPr>
        </p:nvSpPr>
        <p:spPr bwMode="auto">
          <a:xfrm>
            <a:off x="685872" y="6356350"/>
            <a:ext cx="7954173" cy="365124"/>
          </a:xfrm>
        </p:spPr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1855251471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75ABCED-8657-D9A7-CD84-F2A91EC224AC}" type="slidenum">
              <a:rPr lang="de-DE"/>
              <a:t>3</a:t>
            </a:fld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2938472" name="Titolo 1"/>
          <p:cNvSpPr>
            <a:spLocks noGrp="1"/>
          </p:cNvSpPr>
          <p:nvPr>
            <p:ph type="title"/>
          </p:nvPr>
        </p:nvSpPr>
        <p:spPr bwMode="auto">
          <a:xfrm>
            <a:off x="399539" y="130492"/>
            <a:ext cx="8537222" cy="742331"/>
          </a:xfrm>
        </p:spPr>
        <p:txBody>
          <a:bodyPr/>
          <a:lstStyle/>
          <a:p>
            <a:pPr>
              <a:defRPr/>
            </a:pPr>
            <a:r>
              <a:rPr lang="it-IT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Arm TrustZone (I)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834047268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593905" y="940719"/>
            <a:ext cx="8543925" cy="521877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strike="noStrike" cap="none" spc="0">
                <a:latin typeface="Microsoft Sans Serif"/>
                <a:ea typeface="Microsoft Sans Serif"/>
                <a:cs typeface="Microsoft Sans Serif"/>
              </a:rPr>
              <a:t>supports two security states</a:t>
            </a:r>
            <a:endParaRPr strike="noStrike" cap="none" spc="0"/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non-secure state</a:t>
            </a:r>
            <a:endParaRPr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secure state</a:t>
            </a:r>
            <a:endParaRPr lang="it-IT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strike="noStrike" cap="none" spc="0">
                <a:latin typeface="Microsoft Sans Serif"/>
                <a:ea typeface="Microsoft Sans Serif"/>
                <a:cs typeface="Microsoft Sans Serif"/>
              </a:rPr>
              <a:t>secure </a:t>
            </a:r>
            <a:r>
              <a:rPr lang="it-IT" sz="2000" b="1" strike="noStrike" cap="none" spc="0">
                <a:latin typeface="Microsoft Sans Serif"/>
                <a:ea typeface="Microsoft Sans Serif"/>
                <a:cs typeface="Microsoft Sans Serif"/>
              </a:rPr>
              <a:t>monitor provides</a:t>
            </a:r>
            <a:endParaRPr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security state switching</a:t>
            </a:r>
            <a:endParaRPr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context save and restore</a:t>
            </a:r>
            <a:endParaRPr lang="it-IT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strike="noStrike" cap="none" spc="0">
                <a:latin typeface="Microsoft Sans Serif"/>
                <a:ea typeface="Microsoft Sans Serif"/>
                <a:cs typeface="Microsoft Sans Serif"/>
              </a:rPr>
              <a:t>two Physical Address Spaces (PAS)</a:t>
            </a:r>
            <a:endParaRPr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secure PAS (access granted only from secure state)</a:t>
            </a:r>
            <a:endParaRPr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non-secure PAS (access granted from both states)</a:t>
            </a:r>
            <a:endParaRPr lang="it-IT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strike="noStrike" cap="none" spc="0">
                <a:latin typeface="Microsoft Sans Serif"/>
                <a:ea typeface="Microsoft Sans Serif"/>
                <a:cs typeface="Microsoft Sans Serif"/>
              </a:rPr>
              <a:t>different implementations of attestation mechanism</a:t>
            </a:r>
            <a:endParaRPr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no official standard</a:t>
            </a:r>
            <a:endParaRPr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constraints of IoT devices could lead to insecure implementations</a:t>
            </a:r>
            <a:endParaRPr lang="it-IT" sz="16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498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endParaRPr lang="it-IT" sz="2000" strike="noStrike" cap="none" spc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278560168" name="Segnaposto piè di pagina 3"/>
          <p:cNvSpPr>
            <a:spLocks noGrp="1"/>
          </p:cNvSpPr>
          <p:nvPr>
            <p:ph type="ftr" sz="quarter" idx="11"/>
          </p:nvPr>
        </p:nvSpPr>
        <p:spPr bwMode="auto">
          <a:xfrm>
            <a:off x="685872" y="6356350"/>
            <a:ext cx="7954174" cy="365124"/>
          </a:xfrm>
        </p:spPr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163858858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BFAF3B3-C5AC-34FB-25A1-A6A83018A842}" type="slidenum">
              <a:rPr lang="de-DE"/>
              <a:t>4</a:t>
            </a:fld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2572566" name="Titolo 1"/>
          <p:cNvSpPr>
            <a:spLocks noGrp="1"/>
          </p:cNvSpPr>
          <p:nvPr>
            <p:ph type="title"/>
          </p:nvPr>
        </p:nvSpPr>
        <p:spPr bwMode="auto">
          <a:xfrm>
            <a:off x="399539" y="130492"/>
            <a:ext cx="8537222" cy="742331"/>
          </a:xfrm>
        </p:spPr>
        <p:txBody>
          <a:bodyPr/>
          <a:lstStyle/>
          <a:p>
            <a:pPr>
              <a:defRPr/>
            </a:pPr>
            <a:r>
              <a:rPr lang="it-IT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Arm TrustZone (II)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665327039" name="Segnaposto piè di pagina 3"/>
          <p:cNvSpPr>
            <a:spLocks noGrp="1"/>
          </p:cNvSpPr>
          <p:nvPr>
            <p:ph type="ftr" sz="quarter" idx="11"/>
          </p:nvPr>
        </p:nvSpPr>
        <p:spPr bwMode="auto">
          <a:xfrm>
            <a:off x="685872" y="6356350"/>
            <a:ext cx="7954174" cy="365124"/>
          </a:xfrm>
        </p:spPr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590409851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249E4C2-2276-61FF-5008-6EA9A6CCFF14}" type="slidenum">
              <a:rPr lang="de-DE"/>
              <a:t>5</a:t>
            </a:fld>
            <a:endParaRPr lang="it-IT"/>
          </a:p>
        </p:txBody>
      </p:sp>
      <p:pic>
        <p:nvPicPr>
          <p:cNvPr id="2059028571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90888" y="1522788"/>
            <a:ext cx="9154522" cy="39061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100737" name="Titolo 1"/>
          <p:cNvSpPr>
            <a:spLocks noGrp="1"/>
          </p:cNvSpPr>
          <p:nvPr>
            <p:ph type="title"/>
          </p:nvPr>
        </p:nvSpPr>
        <p:spPr bwMode="auto">
          <a:xfrm>
            <a:off x="399539" y="130492"/>
            <a:ext cx="8537222" cy="742331"/>
          </a:xfrm>
        </p:spPr>
        <p:txBody>
          <a:bodyPr/>
          <a:lstStyle/>
          <a:p>
            <a:pPr>
              <a:defRPr/>
            </a:pPr>
            <a:r>
              <a:rPr lang="it-IT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Arm TrustZone - Downsides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320323424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593905" y="940719"/>
            <a:ext cx="8631056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strike="noStrike" cap="none" spc="0">
                <a:latin typeface="Microsoft Sans Serif"/>
                <a:ea typeface="Microsoft Sans Serif"/>
                <a:cs typeface="Microsoft Sans Serif"/>
              </a:rPr>
              <a:t>no support for multiple trusted execution environments (TEE)</a:t>
            </a:r>
            <a:endParaRPr lang="it-IT"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strike="noStrike" cap="none" spc="0">
                <a:latin typeface="Microsoft Sans Serif"/>
                <a:ea typeface="Microsoft Sans Serif"/>
                <a:cs typeface="Microsoft Sans Serif"/>
              </a:rPr>
              <a:t>isolation performed at operating system level</a:t>
            </a:r>
            <a:endParaRPr sz="20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no mutual distrust between applications</a:t>
            </a:r>
            <a:endParaRPr lang="it-IT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strike="noStrike" cap="none" spc="0">
                <a:latin typeface="Microsoft Sans Serif"/>
                <a:ea typeface="Microsoft Sans Serif"/>
                <a:cs typeface="Microsoft Sans Serif"/>
              </a:rPr>
              <a:t>secure monitor operates in secure state</a:t>
            </a:r>
            <a:endParaRPr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possible access from a compromised application</a:t>
            </a:r>
            <a:endParaRPr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attestation </a:t>
            </a:r>
            <a:r>
              <a:rPr lang="it-IT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implementations based on static claims</a:t>
            </a:r>
            <a:endParaRPr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no consideration on dynamic change of trusted services</a:t>
            </a:r>
            <a:endParaRPr sz="2000" strike="noStrike" cap="none" spc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1716471760" name="Segnaposto piè di pagina 3"/>
          <p:cNvSpPr>
            <a:spLocks noGrp="1"/>
          </p:cNvSpPr>
          <p:nvPr>
            <p:ph type="ftr" sz="quarter" idx="11"/>
          </p:nvPr>
        </p:nvSpPr>
        <p:spPr bwMode="auto">
          <a:xfrm>
            <a:off x="685872" y="6356350"/>
            <a:ext cx="7954174" cy="365124"/>
          </a:xfrm>
        </p:spPr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2132789876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16331F4-0A9E-0FB5-E72E-C84E4B3B9EA5}" type="slidenum">
              <a:rPr lang="de-DE"/>
              <a:t>6</a:t>
            </a:fld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024791" name="Titolo 1"/>
          <p:cNvSpPr>
            <a:spLocks noGrp="1"/>
          </p:cNvSpPr>
          <p:nvPr>
            <p:ph type="title"/>
          </p:nvPr>
        </p:nvSpPr>
        <p:spPr bwMode="auto">
          <a:xfrm>
            <a:off x="399539" y="130492"/>
            <a:ext cx="8537222" cy="742331"/>
          </a:xfrm>
        </p:spPr>
        <p:txBody>
          <a:bodyPr/>
          <a:lstStyle/>
          <a:p>
            <a:pPr>
              <a:defRPr/>
            </a:pPr>
            <a:r>
              <a:rPr lang="it-IT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Arm CCA (I)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1813788884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593906" y="940720"/>
            <a:ext cx="8543925" cy="488728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strike="noStrike" cap="none" spc="0">
                <a:latin typeface="Microsoft Sans Serif"/>
                <a:ea typeface="Microsoft Sans Serif"/>
                <a:cs typeface="Microsoft Sans Serif"/>
              </a:rPr>
              <a:t>support of four security states</a:t>
            </a:r>
            <a:endParaRPr strike="noStrike" cap="none" spc="0"/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secure state</a:t>
            </a:r>
            <a:endParaRPr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non-secure state</a:t>
            </a:r>
            <a:endParaRPr lang="it-IT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root state</a:t>
            </a:r>
            <a:endParaRPr lang="it-IT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realm state</a:t>
            </a:r>
            <a:endParaRPr lang="it-IT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mutual isolation between realm VMs</a:t>
            </a:r>
            <a:endParaRPr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each application isolated from hypervisor and other realms</a:t>
            </a:r>
            <a:endParaRPr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strike="noStrike" cap="none" spc="0">
                <a:latin typeface="Microsoft Sans Serif"/>
                <a:ea typeface="Microsoft Sans Serif"/>
                <a:cs typeface="Microsoft Sans Serif"/>
              </a:rPr>
              <a:t>no more limit on TEE instances</a:t>
            </a:r>
            <a:endParaRPr lang="it-IT" sz="20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strike="noStrike" cap="none" spc="0">
                <a:latin typeface="Microsoft Sans Serif"/>
                <a:ea typeface="Microsoft Sans Serif"/>
                <a:cs typeface="Microsoft Sans Serif"/>
              </a:rPr>
              <a:t>mutual distrust between realm and secure state</a:t>
            </a:r>
            <a:endParaRPr lang="it-IT" sz="20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root state reserved for Monitor</a:t>
            </a:r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no visibility from other security states</a:t>
            </a:r>
            <a:endParaRPr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marL="0" lvl="0" indent="0" algn="l" defTabSz="914400" rtl="0">
              <a:lnSpc>
                <a:spcPct val="90000"/>
              </a:lnSpc>
              <a:spcBef>
                <a:spcPts val="498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None/>
              <a:defRPr/>
            </a:pPr>
            <a:endParaRPr sz="2000" b="1" strike="noStrike" cap="none" spc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586612732" name="Segnaposto piè di pagina 3"/>
          <p:cNvSpPr>
            <a:spLocks noGrp="1"/>
          </p:cNvSpPr>
          <p:nvPr>
            <p:ph type="ftr" sz="quarter" idx="11"/>
          </p:nvPr>
        </p:nvSpPr>
        <p:spPr bwMode="auto">
          <a:xfrm>
            <a:off x="685872" y="6356350"/>
            <a:ext cx="7954174" cy="365124"/>
          </a:xfrm>
        </p:spPr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1193291839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0DEBF43-E35F-34AD-FC17-24EE894BF2B6}" type="slidenum">
              <a:rPr lang="de-DE"/>
              <a:t>7</a:t>
            </a:fld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901225" name="Titolo 1"/>
          <p:cNvSpPr>
            <a:spLocks noGrp="1"/>
          </p:cNvSpPr>
          <p:nvPr>
            <p:ph type="title"/>
          </p:nvPr>
        </p:nvSpPr>
        <p:spPr bwMode="auto">
          <a:xfrm>
            <a:off x="399539" y="130492"/>
            <a:ext cx="8537222" cy="742331"/>
          </a:xfrm>
        </p:spPr>
        <p:txBody>
          <a:bodyPr/>
          <a:lstStyle/>
          <a:p>
            <a:pPr>
              <a:defRPr/>
            </a:pPr>
            <a:r>
              <a:rPr lang="it-IT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Arm CCA (II)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637703400" name="Segnaposto piè di pagina 3"/>
          <p:cNvSpPr>
            <a:spLocks noGrp="1"/>
          </p:cNvSpPr>
          <p:nvPr>
            <p:ph type="ftr" sz="quarter" idx="11"/>
          </p:nvPr>
        </p:nvSpPr>
        <p:spPr bwMode="auto">
          <a:xfrm>
            <a:off x="685872" y="6356350"/>
            <a:ext cx="7954174" cy="365124"/>
          </a:xfrm>
        </p:spPr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1646745128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10151A7-DF7F-C390-1EC3-9A701B7A9AD6}" type="slidenum">
              <a:rPr lang="de-DE"/>
              <a:t>8</a:t>
            </a:fld>
            <a:endParaRPr lang="it-IT"/>
          </a:p>
        </p:txBody>
      </p:sp>
      <p:pic>
        <p:nvPicPr>
          <p:cNvPr id="1705642717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246931" y="679093"/>
            <a:ext cx="9538025" cy="56058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6047046" name="Titolo 1"/>
          <p:cNvSpPr>
            <a:spLocks noGrp="1"/>
          </p:cNvSpPr>
          <p:nvPr>
            <p:ph type="title"/>
          </p:nvPr>
        </p:nvSpPr>
        <p:spPr bwMode="auto">
          <a:xfrm flipH="0" flipV="0">
            <a:off x="399539" y="130492"/>
            <a:ext cx="9515320" cy="74233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it-IT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Arm CCA – Hardware components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1097495111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593905" y="940719"/>
            <a:ext cx="9223336" cy="541562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algn="l" defTabSz="914400" rtl="0">
              <a:lnSpc>
                <a:spcPct val="10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Realm Management Engine (RME) provides hardware primitives</a:t>
            </a:r>
            <a:endParaRPr lang="it-IT" sz="20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four PAS each associated to a security state</a:t>
            </a:r>
            <a:endParaRPr lang="it-IT" sz="20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support of granular PAS filtering</a:t>
            </a:r>
            <a:endParaRPr lang="it-IT" sz="20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dynamic allocation of single pages</a:t>
            </a:r>
            <a:endParaRPr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information stored on Granule Protection Tables (GPTs)</a:t>
            </a:r>
            <a:endParaRPr lang="it-IT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in case of failure Granule Protection Fault (GPF) reported</a:t>
            </a:r>
            <a:endParaRPr sz="20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support of Memory Encryption Contexts (MEC)</a:t>
            </a:r>
            <a:endParaRPr sz="20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different for each realm</a:t>
            </a:r>
            <a:endParaRPr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configured at boot time and managed run-time by MPE</a:t>
            </a:r>
            <a:endParaRPr sz="20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underlying hardware layer: Hardware Enforced Security (HES)</a:t>
            </a:r>
            <a:endParaRPr sz="20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key component for secure boot and attestation process</a:t>
            </a:r>
            <a:endParaRPr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enforced with memory shielded locations</a:t>
            </a:r>
            <a:endParaRPr lang="it-IT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Root-of-Trust (RoT) for storage and for measurement</a:t>
            </a:r>
            <a:endParaRPr lang="it-IT" sz="2000" b="0" i="0" u="none" strike="noStrike" cap="none" spc="0">
              <a:solidFill>
                <a:schemeClr val="tx1"/>
              </a:solidFill>
              <a:latin typeface="Microsoft Sans Serif"/>
              <a:ea typeface="Microsoft Sans Serif"/>
              <a:cs typeface="Microsoft Sans Serif"/>
            </a:endParaRPr>
          </a:p>
          <a:p>
            <a:pPr marL="0" lvl="0" indent="0" algn="l" defTabSz="914400" rtl="0">
              <a:lnSpc>
                <a:spcPct val="90000"/>
              </a:lnSpc>
              <a:spcBef>
                <a:spcPts val="49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None/>
              <a:defRPr/>
            </a:pPr>
            <a:endParaRPr lang="it-IT" sz="2000" strike="noStrike" cap="none" spc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1528528725" name="Segnaposto piè di pagina 3"/>
          <p:cNvSpPr>
            <a:spLocks noGrp="1"/>
          </p:cNvSpPr>
          <p:nvPr>
            <p:ph type="ftr" sz="quarter" idx="11"/>
          </p:nvPr>
        </p:nvSpPr>
        <p:spPr bwMode="auto">
          <a:xfrm>
            <a:off x="685872" y="6356350"/>
            <a:ext cx="7954174" cy="365124"/>
          </a:xfrm>
        </p:spPr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1532912800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01B9506-60D7-197B-4922-957C0EBFF6D9}" type="slidenum">
              <a:rPr lang="de-DE"/>
              <a:t>9</a:t>
            </a:fld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9053792" name="Titolo 1"/>
          <p:cNvSpPr>
            <a:spLocks noGrp="1"/>
          </p:cNvSpPr>
          <p:nvPr>
            <p:ph type="title"/>
          </p:nvPr>
        </p:nvSpPr>
        <p:spPr bwMode="auto">
          <a:xfrm flipH="0" flipV="0">
            <a:off x="399539" y="130492"/>
            <a:ext cx="9444765" cy="74233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it-IT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Arm CCA – Software components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1818254684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593906" y="940720"/>
            <a:ext cx="8814489" cy="5131887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strike="noStrike" cap="none" spc="0">
                <a:latin typeface="Microsoft Sans Serif"/>
                <a:ea typeface="Microsoft Sans Serif"/>
                <a:cs typeface="Microsoft Sans Serif"/>
              </a:rPr>
              <a:t>Monitor is responsible for</a:t>
            </a:r>
            <a:endParaRPr strike="noStrike" cap="none" spc="0"/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context switching between security states</a:t>
            </a:r>
            <a:endParaRPr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management of GPT</a:t>
            </a:r>
            <a:endParaRPr lang="it-IT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platform attestation</a:t>
            </a:r>
            <a:endParaRPr lang="it-IT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reference impelementation: TF-A by Trusted Firmware</a:t>
            </a:r>
            <a:endParaRPr lang="it-IT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Realm Management Monitor (RMM) manages realm VMs</a:t>
            </a:r>
            <a:endParaRPr sz="2000" strike="noStrike" cap="none" spc="0"/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handling of hypervisor request to manage Realms</a:t>
            </a:r>
            <a:endParaRPr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provides security primitives (host request validation, realm isolation)</a:t>
            </a:r>
            <a:endParaRPr sz="2000" strike="noStrike" cap="none" spc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57518896" name="Segnaposto piè di pagina 3"/>
          <p:cNvSpPr>
            <a:spLocks noGrp="1"/>
          </p:cNvSpPr>
          <p:nvPr>
            <p:ph type="ftr" sz="quarter" idx="11"/>
          </p:nvPr>
        </p:nvSpPr>
        <p:spPr bwMode="auto">
          <a:xfrm>
            <a:off x="685872" y="6356350"/>
            <a:ext cx="7954174" cy="365124"/>
          </a:xfrm>
        </p:spPr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1598657350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B589266-9402-4384-B2F8-543838DB2A55}" type="slidenum">
              <a:rPr lang="de-DE"/>
              <a:t>10</a:t>
            </a:fld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9073535" name="Titolo 1"/>
          <p:cNvSpPr>
            <a:spLocks noGrp="1"/>
          </p:cNvSpPr>
          <p:nvPr>
            <p:ph type="title"/>
          </p:nvPr>
        </p:nvSpPr>
        <p:spPr bwMode="auto">
          <a:xfrm flipH="0" flipV="0">
            <a:off x="399538" y="130491"/>
            <a:ext cx="8416774" cy="74232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it-IT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Arm CCA – Software interfaces</a:t>
            </a:r>
            <a:endParaRPr lang="en-US" sz="3600" b="1">
              <a:solidFill>
                <a:schemeClr val="tx2">
                  <a:lumMod val="76000"/>
                  <a:lumOff val="24000"/>
                </a:schemeClr>
              </a:solidFill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873227589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593905" y="940719"/>
            <a:ext cx="8814488" cy="5131886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strike="noStrike" cap="none" spc="0">
                <a:latin typeface="Microsoft Sans Serif"/>
                <a:ea typeface="Microsoft Sans Serif"/>
                <a:cs typeface="Microsoft Sans Serif"/>
              </a:rPr>
              <a:t>three interfaces for communication between host and Realms</a:t>
            </a:r>
            <a:endParaRPr strike="noStrike" cap="none" spc="0"/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Realm Management Interface (RMI)</a:t>
            </a:r>
            <a:endParaRPr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Realm Service Interface (RSI)</a:t>
            </a:r>
            <a:endParaRPr lang="it-IT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Realm Host Interface (RHI)</a:t>
            </a:r>
            <a:endParaRPr lang="it-IT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Realm Management Interface</a:t>
            </a:r>
            <a:endParaRPr sz="2000" strike="noStrike" cap="none" spc="0"/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enable host control of realms </a:t>
            </a:r>
            <a:endParaRPr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strike="noStrike" cap="none" spc="0">
                <a:latin typeface="Microsoft Sans Serif"/>
                <a:ea typeface="Microsoft Sans Serif"/>
                <a:cs typeface="Microsoft Sans Serif"/>
              </a:rPr>
              <a:t>no guarantees of realms availability due to compromised host </a:t>
            </a:r>
            <a:endParaRPr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strike="noStrike" cap="none" spc="0">
                <a:latin typeface="Microsoft Sans Serif"/>
                <a:ea typeface="Microsoft Sans Serif"/>
                <a:cs typeface="Microsoft Sans Serif"/>
              </a:rPr>
              <a:t>Realm Service Interface</a:t>
            </a:r>
            <a:endParaRPr lang="it-IT"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strike="noStrike" cap="none" spc="0">
                <a:latin typeface="Microsoft Sans Serif"/>
                <a:ea typeface="Microsoft Sans Serif"/>
                <a:cs typeface="Microsoft Sans Serif"/>
              </a:rPr>
              <a:t>provide services to realms</a:t>
            </a:r>
            <a:endParaRPr sz="20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strike="noStrike" cap="none" spc="0">
                <a:latin typeface="Microsoft Sans Serif"/>
                <a:ea typeface="Microsoft Sans Serif"/>
                <a:cs typeface="Microsoft Sans Serif"/>
              </a:rPr>
              <a:t>attestation report request and accepting devices assigned to Realms</a:t>
            </a:r>
            <a:endParaRPr lang="it-IT" sz="20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strike="noStrike" cap="none" spc="0">
                <a:latin typeface="Microsoft Sans Serif"/>
                <a:ea typeface="Microsoft Sans Serif"/>
                <a:cs typeface="Microsoft Sans Serif"/>
              </a:rPr>
              <a:t>Realm </a:t>
            </a:r>
            <a:r>
              <a:rPr lang="it-IT" sz="2000" b="1" strike="noStrike" cap="none" spc="0">
                <a:latin typeface="Microsoft Sans Serif"/>
                <a:ea typeface="Microsoft Sans Serif"/>
                <a:cs typeface="Microsoft Sans Serif"/>
              </a:rPr>
              <a:t>Host Interface</a:t>
            </a:r>
            <a:endParaRPr lang="it-IT"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it-IT" sz="2000" b="0" strike="noStrike" cap="none" spc="0">
                <a:latin typeface="Microsoft Sans Serif"/>
                <a:ea typeface="Microsoft Sans Serif"/>
                <a:cs typeface="Microsoft Sans Serif"/>
              </a:rPr>
              <a:t>enable direct communication between host and Realm</a:t>
            </a:r>
            <a:r>
              <a:rPr lang="it-IT" sz="2000" b="0" strike="noStrike" cap="none" spc="0">
                <a:latin typeface="Microsoft Sans Serif"/>
                <a:ea typeface="Microsoft Sans Serif"/>
                <a:cs typeface="Microsoft Sans Serif"/>
              </a:rPr>
              <a:t>s</a:t>
            </a:r>
            <a:endParaRPr sz="2000" b="0" strike="noStrike" cap="none" spc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1945207154" name="Segnaposto piè di pagina 3"/>
          <p:cNvSpPr>
            <a:spLocks noGrp="1"/>
          </p:cNvSpPr>
          <p:nvPr>
            <p:ph type="ftr" sz="quarter" idx="11"/>
          </p:nvPr>
        </p:nvSpPr>
        <p:spPr bwMode="auto">
          <a:xfrm>
            <a:off x="685872" y="6356349"/>
            <a:ext cx="7954173" cy="365123"/>
          </a:xfrm>
        </p:spPr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1473610413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F0399E3-091C-29E5-D993-3349190ACCB1}" type="slidenum">
              <a:rPr lang="de-DE"/>
              <a:t>11</a:t>
            </a:fld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5997533" name="Titolo 1"/>
          <p:cNvSpPr>
            <a:spLocks noGrp="1"/>
          </p:cNvSpPr>
          <p:nvPr>
            <p:ph type="title"/>
          </p:nvPr>
        </p:nvSpPr>
        <p:spPr bwMode="auto">
          <a:xfrm flipH="0" flipV="0">
            <a:off x="399539" y="130491"/>
            <a:ext cx="9444764" cy="74233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Arm CCA –</a:t>
            </a:r>
            <a:r>
              <a:rPr lang="en-US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 </a:t>
            </a:r>
            <a:r>
              <a:rPr lang="en-US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Attestation </a:t>
            </a:r>
            <a:r>
              <a:rPr lang="en-US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mechanism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1765921133" name="Segnaposto contenuto 2"/>
          <p:cNvSpPr>
            <a:spLocks noGrp="1"/>
          </p:cNvSpPr>
          <p:nvPr>
            <p:ph idx="1"/>
          </p:nvPr>
        </p:nvSpPr>
        <p:spPr bwMode="auto">
          <a:xfrm>
            <a:off x="593907" y="940721"/>
            <a:ext cx="8543925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Arm CCA provides support for the attestation process</a:t>
            </a:r>
            <a:endParaRPr lang="en-US"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attestation is divided in two steps</a:t>
            </a:r>
            <a:endParaRPr lang="en-US"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strike="noStrike" cap="none" spc="0">
                <a:latin typeface="Microsoft Sans Serif"/>
                <a:ea typeface="Microsoft Sans Serif"/>
                <a:cs typeface="Microsoft Sans Serif"/>
              </a:rPr>
              <a:t>platform attestation</a:t>
            </a:r>
            <a:endParaRPr lang="en-US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strike="noStrike" cap="none" spc="0">
                <a:latin typeface="Microsoft Sans Serif"/>
                <a:ea typeface="Microsoft Sans Serif"/>
                <a:cs typeface="Microsoft Sans Serif"/>
              </a:rPr>
              <a:t>realm attestation</a:t>
            </a:r>
            <a:endParaRPr lang="en-US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two tokens are </a:t>
            </a:r>
            <a:r>
              <a:rPr lang="en-US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cryptographically</a:t>
            </a: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 bounded</a:t>
            </a:r>
            <a:endParaRPr lang="en-US"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strike="noStrike" cap="none" spc="0">
                <a:latin typeface="Microsoft Sans Serif"/>
                <a:ea typeface="Microsoft Sans Serif"/>
                <a:cs typeface="Microsoft Sans Serif"/>
              </a:rPr>
              <a:t>avoid decoupling of tokens</a:t>
            </a:r>
            <a:endParaRPr lang="en-US" sz="20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specification is still an </a:t>
            </a:r>
            <a:r>
              <a:rPr lang="en-US" sz="2000" b="1" u="sng" strike="noStrike" cap="none" spc="0">
                <a:latin typeface="Microsoft Sans Serif"/>
                <a:ea typeface="Microsoft Sans Serif"/>
                <a:cs typeface="Microsoft Sans Serif"/>
                <a:hlinkClick r:id="rId3" tooltip=""/>
              </a:rPr>
              <a:t>RFC draft</a:t>
            </a:r>
            <a:endParaRPr sz="1200" b="1" strike="noStrike" cap="none" spc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1238600012" name="Segnaposto piè di pagina 3"/>
          <p:cNvSpPr>
            <a:spLocks noGrp="1"/>
          </p:cNvSpPr>
          <p:nvPr>
            <p:ph type="ftr" sz="quarter" idx="11"/>
          </p:nvPr>
        </p:nvSpPr>
        <p:spPr bwMode="auto">
          <a:xfrm>
            <a:off x="685872" y="6356350"/>
            <a:ext cx="7954174" cy="365124"/>
          </a:xfrm>
        </p:spPr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1568771868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4697C3E-46F6-B26B-EBBD-674CD1C778E2}" type="slidenum">
              <a:rPr lang="de-DE"/>
              <a:t>12</a:t>
            </a:fld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3919468" name="Titolo 1"/>
          <p:cNvSpPr>
            <a:spLocks noGrp="1"/>
          </p:cNvSpPr>
          <p:nvPr>
            <p:ph type="title"/>
          </p:nvPr>
        </p:nvSpPr>
        <p:spPr bwMode="auto">
          <a:xfrm flipH="0" flipV="0">
            <a:off x="399539" y="130491"/>
            <a:ext cx="9444764" cy="74233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Arm CCA – Attester architecture</a:t>
            </a:r>
            <a:r>
              <a:rPr lang="en-US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 (I)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1334889216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593906" y="940720"/>
            <a:ext cx="9151837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specification follows the RATS Standard (</a:t>
            </a:r>
            <a:r>
              <a:rPr lang="en-US" sz="2000" b="1" u="sng" strike="noStrike" cap="none" spc="0">
                <a:latin typeface="Microsoft Sans Serif"/>
                <a:ea typeface="Microsoft Sans Serif"/>
                <a:cs typeface="Microsoft Sans Serif"/>
                <a:hlinkClick r:id="rId3" tooltip=""/>
              </a:rPr>
              <a:t>RFC 9334</a:t>
            </a: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)</a:t>
            </a:r>
            <a:endParaRPr lang="en-US"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strike="noStrike" cap="none" spc="0">
                <a:latin typeface="Microsoft Sans Serif"/>
                <a:ea typeface="Microsoft Sans Serif"/>
                <a:cs typeface="Microsoft Sans Serif"/>
              </a:rPr>
              <a:t>attester create evidences to send to the verifier</a:t>
            </a:r>
            <a:endParaRPr sz="28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i="0" strike="noStrike" cap="none" spc="0">
                <a:latin typeface="Microsoft Sans Serif"/>
                <a:ea typeface="Microsoft Sans Serif"/>
                <a:cs typeface="Microsoft Sans Serif"/>
              </a:rPr>
              <a:t>two different </a:t>
            </a:r>
            <a:r>
              <a:rPr lang="en-US" sz="2000" b="1" i="0" strike="noStrike" cap="none" spc="0">
                <a:latin typeface="Microsoft Sans Serif"/>
                <a:ea typeface="Microsoft Sans Serif"/>
                <a:cs typeface="Microsoft Sans Serif"/>
              </a:rPr>
              <a:t>“attesting </a:t>
            </a:r>
            <a:r>
              <a:rPr lang="en-US" sz="2000" b="1" i="0" strike="noStrike" cap="none" spc="0">
                <a:latin typeface="Microsoft Sans Serif"/>
                <a:ea typeface="Microsoft Sans Serif"/>
                <a:cs typeface="Microsoft Sans Serif"/>
              </a:rPr>
              <a:t>flavors”</a:t>
            </a:r>
            <a:endParaRPr lang="en-US" sz="2000" b="1" i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i="0" strike="noStrike" cap="none" spc="0">
                <a:latin typeface="Microsoft Sans Serif"/>
                <a:ea typeface="Microsoft Sans Serif"/>
                <a:cs typeface="Microsoft Sans Serif"/>
              </a:rPr>
              <a:t>delegated attester</a:t>
            </a:r>
            <a:endParaRPr lang="en-US" sz="2000" b="1" i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i="0" strike="noStrike" cap="none" spc="0">
                <a:latin typeface="Microsoft Sans Serif"/>
                <a:ea typeface="Microsoft Sans Serif"/>
                <a:cs typeface="Microsoft Sans Serif"/>
              </a:rPr>
              <a:t>direct attester</a:t>
            </a:r>
            <a:endParaRPr sz="16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layered attester made up by two layers</a:t>
            </a:r>
            <a:endParaRPr lang="en-US"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strike="noStrike" cap="none" spc="0">
                <a:latin typeface="Microsoft Sans Serif"/>
                <a:ea typeface="Microsoft Sans Serif"/>
                <a:cs typeface="Microsoft Sans Serif"/>
              </a:rPr>
              <a:t>platform attester (the HES)</a:t>
            </a:r>
            <a:endParaRPr lang="en-US" sz="20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strike="noStrike" cap="none" spc="0">
                <a:latin typeface="Microsoft Sans Serif"/>
                <a:ea typeface="Microsoft Sans Serif"/>
                <a:cs typeface="Microsoft Sans Serif"/>
              </a:rPr>
              <a:t>realm attester (the RMM)</a:t>
            </a:r>
            <a:endParaRPr sz="2400" b="0" strike="noStrike" cap="none" spc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918577228" name="Segnaposto piè di pagina 3"/>
          <p:cNvSpPr>
            <a:spLocks noGrp="1"/>
          </p:cNvSpPr>
          <p:nvPr>
            <p:ph type="ftr" sz="quarter" idx="11"/>
          </p:nvPr>
        </p:nvSpPr>
        <p:spPr bwMode="auto">
          <a:xfrm>
            <a:off x="685872" y="6356350"/>
            <a:ext cx="7954174" cy="365124"/>
          </a:xfrm>
        </p:spPr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376528453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541DF96-E206-9DCC-A93F-5FD864587C11}" type="slidenum">
              <a:rPr lang="de-DE"/>
              <a:t>13</a:t>
            </a:fld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699653" name="Titolo 1"/>
          <p:cNvSpPr>
            <a:spLocks noGrp="1"/>
          </p:cNvSpPr>
          <p:nvPr>
            <p:ph type="title"/>
          </p:nvPr>
        </p:nvSpPr>
        <p:spPr bwMode="auto">
          <a:xfrm flipH="0" flipV="0">
            <a:off x="399537" y="130491"/>
            <a:ext cx="9444761" cy="74232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Arm CCA – Attester architecture</a:t>
            </a:r>
            <a:r>
              <a:rPr lang="en-US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 (II)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1429771366" name="Segnaposto piè di pagina 3"/>
          <p:cNvSpPr>
            <a:spLocks noGrp="1"/>
          </p:cNvSpPr>
          <p:nvPr>
            <p:ph type="ftr" sz="quarter" idx="11"/>
          </p:nvPr>
        </p:nvSpPr>
        <p:spPr bwMode="auto">
          <a:xfrm>
            <a:off x="685872" y="6356349"/>
            <a:ext cx="7954173" cy="365122"/>
          </a:xfrm>
        </p:spPr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642986896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98C0FFF-FEE3-223F-0147-6742F31052E4}" type="slidenum">
              <a:rPr lang="de-DE"/>
              <a:t>14</a:t>
            </a:fld>
            <a:endParaRPr lang="it-IT"/>
          </a:p>
        </p:txBody>
      </p:sp>
      <p:pic>
        <p:nvPicPr>
          <p:cNvPr id="72292569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733742"/>
            <a:ext cx="9905999" cy="53905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9926655" name="Titolo 1"/>
          <p:cNvSpPr>
            <a:spLocks noGrp="1"/>
          </p:cNvSpPr>
          <p:nvPr>
            <p:ph type="title"/>
          </p:nvPr>
        </p:nvSpPr>
        <p:spPr bwMode="auto">
          <a:xfrm flipH="0" flipV="0">
            <a:off x="399539" y="130491"/>
            <a:ext cx="9444764" cy="74233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it-IT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Arm CCA – Delegated Attester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1034837571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593906" y="940720"/>
            <a:ext cx="8543925" cy="4913869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it needs two distinct key-pairs both generated by HES</a:t>
            </a:r>
            <a:endParaRPr sz="2000" strike="noStrike" cap="none" spc="0"/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strike="noStrike" cap="none" spc="0">
                <a:latin typeface="Microsoft Sans Serif"/>
                <a:ea typeface="Microsoft Sans Serif"/>
                <a:cs typeface="Microsoft Sans Serif"/>
              </a:rPr>
              <a:t>CCA Platform Attestation Key (CPAK) never leaves the HES</a:t>
            </a:r>
            <a:endParaRPr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strike="noStrike" cap="none" spc="0">
                <a:latin typeface="Microsoft Sans Serif"/>
                <a:ea typeface="Microsoft Sans Serif"/>
                <a:cs typeface="Microsoft Sans Serif"/>
              </a:rPr>
              <a:t>Realm Attestation Key (RAK) leaves the HES</a:t>
            </a:r>
            <a:endParaRPr lang="it-IT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use of two keys is a trade-off for </a:t>
            </a:r>
            <a:r>
              <a:rPr lang="it-IT" sz="2000" b="1" strike="noStrike" cap="none" spc="0">
                <a:latin typeface="Microsoft Sans Serif"/>
                <a:ea typeface="Microsoft Sans Serif"/>
                <a:cs typeface="Microsoft Sans Serif"/>
              </a:rPr>
              <a:t>the </a:t>
            </a: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sake of efficiency</a:t>
            </a:r>
            <a:endParaRPr lang="en-US"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strike="noStrike" cap="none" spc="0">
                <a:latin typeface="Microsoft Sans Serif"/>
                <a:ea typeface="Microsoft Sans Serif"/>
                <a:cs typeface="Microsoft Sans Serif"/>
              </a:rPr>
              <a:t>RAK is sent to RMM after its initialization</a:t>
            </a:r>
            <a:endParaRPr lang="en-US" sz="20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strike="noStrike" cap="none" spc="0">
                <a:latin typeface="Microsoft Sans Serif"/>
                <a:ea typeface="Microsoft Sans Serif"/>
                <a:cs typeface="Microsoft Sans Serif"/>
              </a:rPr>
              <a:t>so HES delegates RMM to sign realm claims</a:t>
            </a:r>
            <a:endParaRPr lang="en-US" sz="20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signing overhead is moved from HES to RMM</a:t>
            </a:r>
            <a:endParaRPr lang="en-US"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strike="noStrike" cap="none" spc="0">
                <a:latin typeface="Microsoft Sans Serif"/>
                <a:ea typeface="Microsoft Sans Serif"/>
                <a:cs typeface="Microsoft Sans Serif"/>
              </a:rPr>
              <a:t>no need to re-generate platform token at each attestation request</a:t>
            </a:r>
            <a:endParaRPr lang="en-US"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token binding through the hash of the RAK public key (fixed value)</a:t>
            </a:r>
            <a:endParaRPr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498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endParaRPr sz="1200" b="1" strike="noStrike" cap="none" spc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2006567735" name="Segnaposto piè di pagina 3"/>
          <p:cNvSpPr>
            <a:spLocks noGrp="1"/>
          </p:cNvSpPr>
          <p:nvPr>
            <p:ph type="ftr" sz="quarter" idx="11"/>
          </p:nvPr>
        </p:nvSpPr>
        <p:spPr bwMode="auto">
          <a:xfrm>
            <a:off x="685872" y="6356350"/>
            <a:ext cx="7954174" cy="365124"/>
          </a:xfrm>
        </p:spPr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264970774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E43ACDD-B7D1-26B6-A25E-5FF8FE5FE6D6}" type="slidenum">
              <a:rPr lang="de-DE"/>
              <a:t>15</a:t>
            </a:fld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8169042" name="Titolo 1"/>
          <p:cNvSpPr>
            <a:spLocks noGrp="1"/>
          </p:cNvSpPr>
          <p:nvPr>
            <p:ph type="title"/>
          </p:nvPr>
        </p:nvSpPr>
        <p:spPr bwMode="auto">
          <a:xfrm flipH="0" flipV="0">
            <a:off x="399538" y="130491"/>
            <a:ext cx="9444763" cy="74232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it-IT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Arm CCA – Attestation Process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102092584" name="Segnaposto piè di pagina 3"/>
          <p:cNvSpPr>
            <a:spLocks noGrp="1"/>
          </p:cNvSpPr>
          <p:nvPr>
            <p:ph type="ftr" sz="quarter" idx="11"/>
          </p:nvPr>
        </p:nvSpPr>
        <p:spPr bwMode="auto">
          <a:xfrm>
            <a:off x="685872" y="6356349"/>
            <a:ext cx="7954173" cy="365123"/>
          </a:xfrm>
        </p:spPr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999774100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1DA8CD5-0649-BF58-6360-E5FB12EFED3B}" type="slidenum">
              <a:rPr lang="de-DE"/>
              <a:t>16</a:t>
            </a:fld>
            <a:endParaRPr lang="it-IT"/>
          </a:p>
        </p:txBody>
      </p:sp>
      <p:pic>
        <p:nvPicPr>
          <p:cNvPr id="12713624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09027" y="1852294"/>
            <a:ext cx="9735275" cy="30990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6451315" name="Titolo 1"/>
          <p:cNvSpPr>
            <a:spLocks noGrp="1"/>
          </p:cNvSpPr>
          <p:nvPr>
            <p:ph type="title"/>
          </p:nvPr>
        </p:nvSpPr>
        <p:spPr bwMode="auto">
          <a:xfrm flipH="0" flipV="0">
            <a:off x="399539" y="130491"/>
            <a:ext cx="9444764" cy="74233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it-IT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Arm CCA – Direct Attester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1923307887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593905" y="940719"/>
            <a:ext cx="9153634" cy="4806568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direct attester uses only one key-pair (CPAK)</a:t>
            </a:r>
            <a:endParaRPr lang="en-US" strike="noStrike" cap="none" spc="0"/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strike="noStrike" cap="none" spc="0">
                <a:latin typeface="Microsoft Sans Serif"/>
                <a:ea typeface="Microsoft Sans Serif"/>
                <a:cs typeface="Microsoft Sans Serif"/>
              </a:rPr>
              <a:t>RMM is in charge only of collecting realm claims</a:t>
            </a:r>
            <a:endParaRPr lang="en-US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strike="noStrike" cap="none" spc="0">
                <a:latin typeface="Microsoft Sans Serif"/>
                <a:ea typeface="Microsoft Sans Serif"/>
                <a:cs typeface="Microsoft Sans Serif"/>
              </a:rPr>
              <a:t>only platform claims are actually signed</a:t>
            </a:r>
            <a:endParaRPr lang="en-US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RMM sends realm claims hash as </a:t>
            </a:r>
            <a:r>
              <a:rPr lang="it-IT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challenge</a:t>
            </a:r>
            <a:r>
              <a:rPr lang="en-US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 with platform token request to HES</a:t>
            </a:r>
            <a:endParaRPr lang="en-US"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strike="noStrike" cap="none" spc="0">
                <a:latin typeface="Microsoft Sans Serif"/>
                <a:ea typeface="Microsoft Sans Serif"/>
                <a:cs typeface="Microsoft Sans Serif"/>
              </a:rPr>
              <a:t>hash is signed with platform claims</a:t>
            </a:r>
            <a:endParaRPr lang="en-US" sz="20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strike="noStrike" cap="none" spc="0">
                <a:latin typeface="Microsoft Sans Serif"/>
                <a:ea typeface="Microsoft Sans Serif"/>
                <a:cs typeface="Microsoft Sans Serif"/>
              </a:rPr>
              <a:t>so realm claims are bounded</a:t>
            </a:r>
            <a:r>
              <a:rPr lang="en-US" sz="2000" b="0" strike="noStrike" cap="none" spc="0">
                <a:latin typeface="Microsoft Sans Serif"/>
                <a:ea typeface="Microsoft Sans Serif"/>
                <a:cs typeface="Microsoft Sans Serif"/>
              </a:rPr>
              <a:t> </a:t>
            </a:r>
            <a:r>
              <a:rPr lang="en-US" sz="2000" b="0" strike="noStrike" cap="none" spc="0">
                <a:latin typeface="Microsoft Sans Serif"/>
                <a:ea typeface="Microsoft Sans Serif"/>
                <a:cs typeface="Microsoft Sans Serif"/>
              </a:rPr>
              <a:t>to the platform token</a:t>
            </a:r>
            <a:endParaRPr lang="en-US" sz="20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no exposure of any key-pair externally to </a:t>
            </a: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HES</a:t>
            </a:r>
            <a:endParaRPr lang="en-US"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HES cannot pre-compute platform token</a:t>
            </a:r>
            <a:endParaRPr lang="en-US"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strike="noStrike" cap="none" spc="0">
                <a:latin typeface="Microsoft Sans Serif"/>
                <a:ea typeface="Microsoft Sans Serif"/>
                <a:cs typeface="Microsoft Sans Serif"/>
              </a:rPr>
              <a:t>so there is more overhead on the HES</a:t>
            </a:r>
            <a:endParaRPr lang="en-US" sz="16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detailed description of direct attester is still a TODO in RFC draft</a:t>
            </a:r>
            <a:endParaRPr lang="en-US" sz="20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49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endParaRPr lang="en-US" sz="2000" b="1" strike="noStrike" cap="none" spc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458831977" name="Segnaposto piè di pagina 3"/>
          <p:cNvSpPr>
            <a:spLocks noGrp="1"/>
          </p:cNvSpPr>
          <p:nvPr>
            <p:ph type="ftr" sz="quarter" idx="11"/>
          </p:nvPr>
        </p:nvSpPr>
        <p:spPr bwMode="auto">
          <a:xfrm>
            <a:off x="685872" y="6356350"/>
            <a:ext cx="7954174" cy="365124"/>
          </a:xfrm>
        </p:spPr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1947605415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4F53C58-E8F1-5A52-C604-BC1266C8C82A}" type="slidenum">
              <a:rPr lang="de-DE"/>
              <a:t>17</a:t>
            </a:fld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5820863" name="Titolo 1"/>
          <p:cNvSpPr>
            <a:spLocks noGrp="1"/>
          </p:cNvSpPr>
          <p:nvPr>
            <p:ph type="title"/>
          </p:nvPr>
        </p:nvSpPr>
        <p:spPr bwMode="auto">
          <a:xfrm flipH="0" flipV="0">
            <a:off x="399539" y="130491"/>
            <a:ext cx="9444764" cy="74233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it-IT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Arm TrustZone vs Arm CCA (I)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428123261" name="Segnaposto piè di pagina 3"/>
          <p:cNvSpPr>
            <a:spLocks noGrp="1"/>
          </p:cNvSpPr>
          <p:nvPr>
            <p:ph type="ftr" sz="quarter" idx="11"/>
          </p:nvPr>
        </p:nvSpPr>
        <p:spPr bwMode="auto">
          <a:xfrm>
            <a:off x="685872" y="6356350"/>
            <a:ext cx="7954174" cy="365124"/>
          </a:xfrm>
        </p:spPr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632269142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3B6B5455-DAB1-AC27-7CA0-9859467966A0}" type="slidenum">
              <a:rPr lang="de-DE"/>
              <a:t>18</a:t>
            </a:fld>
            <a:endParaRPr lang="it-IT"/>
          </a:p>
        </p:txBody>
      </p:sp>
      <p:graphicFrame>
        <p:nvGraphicFramePr>
          <p:cNvPr id="1865264" name=""/>
          <p:cNvGraphicFramePr>
            <a:graphicFrameLocks xmlns:a="http://schemas.openxmlformats.org/drawingml/2006/main"/>
          </p:cNvGraphicFramePr>
          <p:nvPr/>
        </p:nvGraphicFramePr>
        <p:xfrm rot="0">
          <a:off x="399538" y="1286285"/>
          <a:ext cx="9223977" cy="4602854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605638"/>
                <a:gridCol w="4605638"/>
              </a:tblGrid>
              <a:tr h="473314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2000"/>
                        <a:t>Arm CCA</a:t>
                      </a:r>
                      <a:endParaRPr sz="20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2000"/>
                        <a:t>Arm TrustZone</a:t>
                      </a:r>
                      <a:endParaRPr sz="2000"/>
                    </a:p>
                  </a:txBody>
                  <a:tcPr/>
                </a:tc>
              </a:tr>
              <a:tr h="1231456"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2000" b="0" i="0" u="none" strike="noStrike" cap="none" spc="0">
                          <a:solidFill>
                            <a:schemeClr val="dk1"/>
                          </a:solidFill>
                          <a:latin typeface="Microsoft Sans Serif"/>
                          <a:ea typeface="Microsoft Sans Serif"/>
                          <a:cs typeface="Microsoft Sans Serif"/>
                        </a:rPr>
                        <a:t>Ensure hardware-based mutual distrust</a:t>
                      </a:r>
                      <a:endParaRPr sz="2000" b="0" i="0" u="none" strike="noStrike" cap="none" spc="0">
                        <a:solidFill>
                          <a:schemeClr val="dk1"/>
                        </a:solidFill>
                        <a:latin typeface="Microsoft Sans Serif"/>
                        <a:cs typeface="Microsoft Sans Serif"/>
                      </a:endParaRPr>
                    </a:p>
                    <a:p>
                      <a:pPr>
                        <a:defRPr/>
                      </a:pPr>
                      <a:r>
                        <a:rPr lang="en-GB" sz="2000" b="0" i="0" u="none" strike="noStrike" cap="none" spc="0">
                          <a:solidFill>
                            <a:schemeClr val="dk1"/>
                          </a:solidFill>
                          <a:latin typeface="Microsoft Sans Serif"/>
                          <a:ea typeface="Microsoft Sans Serif"/>
                          <a:cs typeface="Microsoft Sans Serif"/>
                        </a:rPr>
                        <a:t>between </a:t>
                      </a:r>
                      <a:r>
                        <a:rPr lang="en-US" sz="2000" b="0" i="0" u="none" strike="noStrike" cap="none" spc="0">
                          <a:solidFill>
                            <a:schemeClr val="dk1"/>
                          </a:solidFill>
                          <a:latin typeface="Microsoft Sans Serif"/>
                          <a:ea typeface="Microsoft Sans Serif"/>
                          <a:cs typeface="Microsoft Sans Serif"/>
                        </a:rPr>
                        <a:t>distinct </a:t>
                      </a:r>
                      <a:r>
                        <a:rPr lang="it-IT" sz="2000" b="0" i="0" u="none" strike="noStrike" cap="none" spc="0">
                          <a:solidFill>
                            <a:schemeClr val="dk1"/>
                          </a:solidFill>
                          <a:latin typeface="Microsoft Sans Serif"/>
                          <a:ea typeface="Microsoft Sans Serif"/>
                          <a:cs typeface="Microsoft Sans Serif"/>
                        </a:rPr>
                        <a:t>TAs</a:t>
                      </a:r>
                      <a:endParaRPr sz="2000">
                        <a:latin typeface="Microsoft Sans Serif"/>
                        <a:cs typeface="Microsoft Sans Serif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2000" b="0" i="0" u="none" strike="noStrike" cap="none" spc="0">
                          <a:solidFill>
                            <a:schemeClr val="dk1"/>
                          </a:solidFill>
                          <a:latin typeface="Microsoft Sans Serif"/>
                          <a:ea typeface="Microsoft Sans Serif"/>
                          <a:cs typeface="Microsoft Sans Serif"/>
                        </a:rPr>
                        <a:t>Does not ensure hardware isolation be</a:t>
                      </a:r>
                      <a:r>
                        <a:rPr lang="en-GB" sz="2000" b="0" i="0" u="none" strike="noStrike" cap="none" spc="0">
                          <a:solidFill>
                            <a:schemeClr val="dk1"/>
                          </a:solidFill>
                          <a:latin typeface="Microsoft Sans Serif"/>
                          <a:ea typeface="Microsoft Sans Serif"/>
                          <a:cs typeface="Microsoft Sans Serif"/>
                        </a:rPr>
                        <a:t>tween TAs</a:t>
                      </a:r>
                      <a:endParaRPr sz="2000" b="0" i="0" u="none" strike="noStrike" cap="none" spc="0">
                        <a:solidFill>
                          <a:schemeClr val="dk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/>
                </a:tc>
              </a:tr>
              <a:tr h="841945"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2000" b="0" i="0" u="none" strike="noStrike" cap="none" spc="0">
                          <a:solidFill>
                            <a:schemeClr val="dk1"/>
                          </a:solidFill>
                          <a:latin typeface="Microsoft Sans Serif"/>
                          <a:ea typeface="Microsoft Sans Serif"/>
                          <a:cs typeface="Microsoft Sans Serif"/>
                        </a:rPr>
                        <a:t>More flexible TA development</a:t>
                      </a:r>
                      <a:endParaRPr sz="2000">
                        <a:latin typeface="Microsoft Sans Serif"/>
                        <a:cs typeface="Microsoft Sans Serif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2000" b="0" i="0" u="none" strike="noStrike" cap="none" spc="0">
                          <a:solidFill>
                            <a:schemeClr val="dk1"/>
                          </a:solidFill>
                          <a:latin typeface="Microsoft Sans Serif"/>
                          <a:ea typeface="Microsoft Sans Serif"/>
                          <a:cs typeface="Microsoft Sans Serif"/>
                        </a:rPr>
                        <a:t>Complex TA development due to the lack of portable APIs</a:t>
                      </a:r>
                      <a:endParaRPr sz="2000">
                        <a:latin typeface="Microsoft Sans Serif"/>
                        <a:cs typeface="Microsoft Sans Serif"/>
                      </a:endParaRPr>
                    </a:p>
                  </a:txBody>
                  <a:tcPr/>
                </a:tc>
              </a:tr>
              <a:tr h="841945"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2000" b="0" i="0" u="none" strike="noStrike" cap="none" spc="0">
                          <a:solidFill>
                            <a:schemeClr val="dk1"/>
                          </a:solidFill>
                          <a:latin typeface="Microsoft Sans Serif"/>
                          <a:ea typeface="Microsoft Sans Serif"/>
                          <a:cs typeface="Microsoft Sans Serif"/>
                        </a:rPr>
                        <a:t>Flexible and unconstrained memory allocation for Realms</a:t>
                      </a:r>
                      <a:endParaRPr sz="2000">
                        <a:latin typeface="Microsoft Sans Serif"/>
                        <a:cs typeface="Microsoft Sans Serif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2000" b="0" i="0" u="none" strike="noStrike" cap="none" spc="0">
                          <a:solidFill>
                            <a:schemeClr val="dk1"/>
                          </a:solidFill>
                          <a:latin typeface="Microsoft Sans Serif"/>
                          <a:ea typeface="Microsoft Sans Serif"/>
                          <a:cs typeface="Microsoft Sans Serif"/>
                        </a:rPr>
                        <a:t>TAs ca</a:t>
                      </a:r>
                      <a:r>
                        <a:rPr lang="en-US" sz="2000" b="0" i="0" u="none" strike="noStrike" cap="none" spc="0">
                          <a:solidFill>
                            <a:schemeClr val="dk1"/>
                          </a:solidFill>
                          <a:latin typeface="Microsoft Sans Serif"/>
                          <a:ea typeface="Microsoft Sans Serif"/>
                          <a:cs typeface="Microsoft Sans Serif"/>
                        </a:rPr>
                        <a:t>nnot</a:t>
                      </a:r>
                      <a:r>
                        <a:rPr lang="en-GB" sz="2000" b="0" i="0" u="none" strike="noStrike" cap="none" spc="0">
                          <a:solidFill>
                            <a:schemeClr val="dk1"/>
                          </a:solidFill>
                          <a:latin typeface="Microsoft Sans Serif"/>
                          <a:ea typeface="Microsoft Sans Serif"/>
                          <a:cs typeface="Microsoft Sans Serif"/>
                        </a:rPr>
                        <a:t> be large</a:t>
                      </a:r>
                      <a:r>
                        <a:rPr lang="en-US" sz="2000" b="0" i="0" u="none" strike="noStrike" cap="none" spc="0">
                          <a:solidFill>
                            <a:schemeClr val="dk1"/>
                          </a:solidFill>
                          <a:latin typeface="Microsoft Sans Serif"/>
                          <a:ea typeface="Microsoft Sans Serif"/>
                          <a:cs typeface="Microsoft Sans Serif"/>
                        </a:rPr>
                        <a:t> (few </a:t>
                      </a:r>
                      <a:r>
                        <a:rPr lang="en-GB" sz="2000" b="0" i="0" u="none" strike="noStrike" cap="none" spc="0">
                          <a:solidFill>
                            <a:schemeClr val="dk1"/>
                          </a:solidFill>
                          <a:latin typeface="Microsoft Sans Serif"/>
                          <a:ea typeface="Microsoft Sans Serif"/>
                          <a:cs typeface="Microsoft Sans Serif"/>
                        </a:rPr>
                        <a:t>MB</a:t>
                      </a:r>
                      <a:r>
                        <a:rPr lang="en-US" sz="2000" b="0" i="0" u="none" strike="noStrike" cap="none" spc="0">
                          <a:solidFill>
                            <a:schemeClr val="dk1"/>
                          </a:solidFill>
                          <a:latin typeface="Microsoft Sans Serif"/>
                          <a:ea typeface="Microsoft Sans Serif"/>
                          <a:cs typeface="Microsoft Sans Serif"/>
                        </a:rPr>
                        <a:t>)</a:t>
                      </a:r>
                      <a:endParaRPr sz="2000">
                        <a:latin typeface="Microsoft Sans Serif"/>
                        <a:cs typeface="Microsoft Sans Serif"/>
                      </a:endParaRPr>
                    </a:p>
                  </a:txBody>
                  <a:tcPr/>
                </a:tc>
              </a:tr>
              <a:tr h="1201494"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2000" b="0" i="0" u="none" strike="noStrike" cap="none" spc="0">
                          <a:solidFill>
                            <a:schemeClr val="dk1"/>
                          </a:solidFill>
                          <a:latin typeface="Microsoft Sans Serif"/>
                          <a:ea typeface="Microsoft Sans Serif"/>
                          <a:cs typeface="Microsoft Sans Serif"/>
                        </a:rPr>
                        <a:t>Does not guarantee availability of the Realm, only confidentiality and integrity</a:t>
                      </a:r>
                      <a:endParaRPr sz="2000">
                        <a:latin typeface="Microsoft Sans Serif"/>
                        <a:cs typeface="Microsoft Sans Serif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2000" b="0" i="0" u="none" strike="noStrike" cap="none" spc="0">
                          <a:solidFill>
                            <a:schemeClr val="dk1"/>
                          </a:solidFill>
                          <a:latin typeface="Microsoft Sans Serif"/>
                          <a:ea typeface="Microsoft Sans Serif"/>
                          <a:cs typeface="Microsoft Sans Serif"/>
                        </a:rPr>
                        <a:t>Ensures availability of the TA along with confidentiality and integrity</a:t>
                      </a:r>
                      <a:endParaRPr sz="2000">
                        <a:latin typeface="Microsoft Sans Serif"/>
                        <a:cs typeface="Microsoft Sans Serif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1266162" name="Titolo 1"/>
          <p:cNvSpPr>
            <a:spLocks noGrp="1"/>
          </p:cNvSpPr>
          <p:nvPr>
            <p:ph type="title"/>
          </p:nvPr>
        </p:nvSpPr>
        <p:spPr bwMode="auto">
          <a:xfrm flipH="0" flipV="0">
            <a:off x="399539" y="130491"/>
            <a:ext cx="9444764" cy="74233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it-IT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Arm TrustZone vs Arm CCA (II)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73636608" name="Segnaposto contenuto 2"/>
          <p:cNvSpPr>
            <a:spLocks noGrp="1"/>
          </p:cNvSpPr>
          <p:nvPr>
            <p:ph idx="1"/>
          </p:nvPr>
        </p:nvSpPr>
        <p:spPr bwMode="auto">
          <a:xfrm>
            <a:off x="593907" y="940721"/>
            <a:ext cx="8543925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Arm TrustZone widely </a:t>
            </a:r>
            <a:r>
              <a:rPr lang="it-IT" sz="2000" b="1" strike="noStrike" cap="none" spc="0">
                <a:latin typeface="Microsoft Sans Serif"/>
                <a:ea typeface="Microsoft Sans Serif"/>
                <a:cs typeface="Microsoft Sans Serif"/>
              </a:rPr>
              <a:t>adopted </a:t>
            </a: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in smartphone and IoT markets</a:t>
            </a:r>
            <a:endParaRPr lang="en-US"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it-IT" sz="2000" b="1" strike="noStrike" cap="none" spc="0">
                <a:latin typeface="Microsoft Sans Serif"/>
                <a:ea typeface="Microsoft Sans Serif"/>
                <a:cs typeface="Microsoft Sans Serif"/>
              </a:rPr>
              <a:t>i</a:t>
            </a: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nstead Arm CCA is more suitable for server-side machine</a:t>
            </a:r>
            <a:endParaRPr lang="en-US"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strike="noStrike" cap="none" spc="0">
                <a:latin typeface="Microsoft Sans Serif"/>
                <a:ea typeface="Microsoft Sans Serif"/>
                <a:cs typeface="Microsoft Sans Serif"/>
              </a:rPr>
              <a:t>the VM-based approach ensures strong isolation between different services that run on the same machine</a:t>
            </a:r>
            <a:endParaRPr lang="en-US" sz="20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strike="noStrike" cap="none" spc="0">
                <a:latin typeface="Microsoft Sans Serif"/>
                <a:ea typeface="Microsoft Sans Serif"/>
                <a:cs typeface="Microsoft Sans Serif"/>
              </a:rPr>
              <a:t>h</a:t>
            </a:r>
            <a:r>
              <a:rPr lang="it-IT" sz="2000" b="0" strike="noStrike" cap="none" spc="0">
                <a:latin typeface="Microsoft Sans Serif"/>
                <a:ea typeface="Microsoft Sans Serif"/>
                <a:cs typeface="Microsoft Sans Serif"/>
              </a:rPr>
              <a:t>ighly employable for cloud</a:t>
            </a:r>
            <a:r>
              <a:rPr lang="en-US" sz="2000" b="0" strike="noStrike" cap="none" spc="0">
                <a:latin typeface="Microsoft Sans Serif"/>
                <a:ea typeface="Microsoft Sans Serif"/>
                <a:cs typeface="Microsoft Sans Serif"/>
              </a:rPr>
              <a:t>-providers</a:t>
            </a:r>
            <a:endParaRPr lang="en-US" sz="20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VM-based approach could add a not-negligible overhead</a:t>
            </a:r>
            <a:r>
              <a:rPr lang="it-IT" sz="2000" b="1" strike="noStrike" cap="none" spc="0">
                <a:latin typeface="Microsoft Sans Serif"/>
                <a:ea typeface="Microsoft Sans Serif"/>
                <a:cs typeface="Microsoft Sans Serif"/>
              </a:rPr>
              <a:t> </a:t>
            </a: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for smartphone and IoT markets</a:t>
            </a:r>
            <a:endParaRPr lang="en-US"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strike="noStrike" cap="none" spc="0">
                <a:latin typeface="Microsoft Sans Serif"/>
                <a:ea typeface="Microsoft Sans Serif"/>
                <a:cs typeface="Microsoft Sans Serif"/>
              </a:rPr>
              <a:t>however no official benchmarks are available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yet</a:t>
            </a:r>
            <a:endParaRPr lang="en-US" sz="16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marL="0" lvl="0" indent="0" algn="l" defTabSz="914400" rtl="0">
              <a:lnSpc>
                <a:spcPct val="90000"/>
              </a:lnSpc>
              <a:spcBef>
                <a:spcPts val="49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None/>
              <a:defRPr/>
            </a:pPr>
            <a:endParaRPr lang="en-US" sz="2000" strike="noStrike" cap="none" spc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1561967683" name="Segnaposto piè di pagina 3"/>
          <p:cNvSpPr>
            <a:spLocks noGrp="1"/>
          </p:cNvSpPr>
          <p:nvPr>
            <p:ph type="ftr" sz="quarter" idx="11"/>
          </p:nvPr>
        </p:nvSpPr>
        <p:spPr bwMode="auto">
          <a:xfrm>
            <a:off x="685872" y="6356350"/>
            <a:ext cx="7954174" cy="365124"/>
          </a:xfrm>
        </p:spPr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470805799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C4A3E22-7CD8-9C1F-BB2A-82E97D829D3A}" type="slidenum">
              <a:rPr lang="de-DE"/>
              <a:t>19</a:t>
            </a:fld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668478" name="Titolo 1"/>
          <p:cNvSpPr>
            <a:spLocks noGrp="1"/>
          </p:cNvSpPr>
          <p:nvPr>
            <p:ph type="title"/>
          </p:nvPr>
        </p:nvSpPr>
        <p:spPr bwMode="auto">
          <a:xfrm flipH="0" flipV="0">
            <a:off x="399538" y="130491"/>
            <a:ext cx="9444764" cy="74232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it-IT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Arm TrustZone vs Arm CCA (III)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863488112" name="Segnaposto contenuto 2"/>
          <p:cNvSpPr>
            <a:spLocks noGrp="1"/>
          </p:cNvSpPr>
          <p:nvPr>
            <p:ph idx="1"/>
          </p:nvPr>
        </p:nvSpPr>
        <p:spPr bwMode="auto">
          <a:xfrm>
            <a:off x="593906" y="940720"/>
            <a:ext cx="8543925" cy="435133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Arm does not provided any attestation standard for TrustZone</a:t>
            </a:r>
            <a:endParaRPr lang="en-US" sz="20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i="0" u="none" strike="noStrike" cap="none" spc="0">
                <a:solidFill>
                  <a:srgbClr val="000000"/>
                </a:solidFill>
                <a:latin typeface="Microsoft Sans Serif"/>
                <a:ea typeface="Microsoft Sans Serif"/>
                <a:cs typeface="Microsoft Sans Serif"/>
              </a:rPr>
              <a:t>different products presents different and closed solutions</a:t>
            </a:r>
            <a:endParaRPr lang="en-US" sz="16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CCA attestation is currently under standardization process</a:t>
            </a:r>
            <a:endParaRPr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will simplify implementation process</a:t>
            </a:r>
            <a:endParaRPr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CCA attestation token leaves freedom to attester abou</a:t>
            </a:r>
            <a:r>
              <a:rPr lang="it-IT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t</a:t>
            </a:r>
            <a:r>
              <a:rPr lang="it-IT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 </a:t>
            </a:r>
            <a:r>
              <a:rPr lang="en-US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what claims include into </a:t>
            </a:r>
            <a:r>
              <a:rPr lang="it-IT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the </a:t>
            </a:r>
            <a:r>
              <a:rPr lang="en-US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token</a:t>
            </a:r>
            <a:endParaRPr lang="en-US"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this foster compliance to the need-to-know principle</a:t>
            </a:r>
            <a:endParaRPr lang="en-US" sz="16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however CCA attestation token raised privacy concerns</a:t>
            </a:r>
            <a:endParaRPr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two different attestation token share same platform token</a:t>
            </a:r>
            <a:endParaRPr sz="20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companies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relationships could be leaked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Microsoft Sans Serif"/>
                <a:ea typeface="Microsoft Sans Serif"/>
                <a:cs typeface="Microsoft Sans Serif"/>
              </a:rPr>
              <a:t>end-point devices could be tracked among different services</a:t>
            </a:r>
            <a:endParaRPr sz="2000" b="0" strike="noStrike" cap="none" spc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25871673" name="Segnaposto piè di pagina 3"/>
          <p:cNvSpPr>
            <a:spLocks noGrp="1"/>
          </p:cNvSpPr>
          <p:nvPr>
            <p:ph type="ftr" sz="quarter" idx="11"/>
          </p:nvPr>
        </p:nvSpPr>
        <p:spPr bwMode="auto">
          <a:xfrm>
            <a:off x="685872" y="6356349"/>
            <a:ext cx="7954174" cy="365123"/>
          </a:xfrm>
        </p:spPr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518600181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4D9B06-221C-4236-CF56-F29AF7E234A0}" type="slidenum">
              <a:rPr lang="de-DE"/>
              <a:t>20</a:t>
            </a:fld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613967" name="Titolo 1"/>
          <p:cNvSpPr>
            <a:spLocks noGrp="1"/>
          </p:cNvSpPr>
          <p:nvPr>
            <p:ph type="title"/>
          </p:nvPr>
        </p:nvSpPr>
        <p:spPr bwMode="auto">
          <a:xfrm flipH="0" flipV="0">
            <a:off x="399539" y="130491"/>
            <a:ext cx="9444764" cy="74233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it-IT" sz="4000" b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Microsoft Sans Serif"/>
                <a:cs typeface="Microsoft Sans Serif"/>
              </a:rPr>
              <a:t>Conclusion</a:t>
            </a:r>
            <a:endParaRPr lang="en-US" b="1">
              <a:solidFill>
                <a:schemeClr val="tx2">
                  <a:lumMod val="76000"/>
                  <a:lumOff val="24000"/>
                </a:schemeClr>
              </a:solidFill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260869873" name="Segnaposto contenuto 2"/>
          <p:cNvSpPr>
            <a:spLocks noGrp="1"/>
          </p:cNvSpPr>
          <p:nvPr>
            <p:ph idx="1"/>
          </p:nvPr>
        </p:nvSpPr>
        <p:spPr bwMode="auto">
          <a:xfrm>
            <a:off x="593907" y="940721"/>
            <a:ext cx="8543925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Arm CCA solves several TrustZone downsides through</a:t>
            </a:r>
            <a:endParaRPr strike="noStrike" cap="none" spc="0"/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strike="noStrike" cap="none" spc="0">
                <a:latin typeface="Microsoft Sans Serif"/>
                <a:ea typeface="Microsoft Sans Serif"/>
                <a:cs typeface="Microsoft Sans Serif"/>
              </a:rPr>
              <a:t>virtualization-based approach</a:t>
            </a:r>
            <a:endParaRPr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strike="noStrike" cap="none" spc="0">
                <a:latin typeface="Microsoft Sans Serif"/>
                <a:ea typeface="Microsoft Sans Serif"/>
                <a:cs typeface="Microsoft Sans Serif"/>
              </a:rPr>
              <a:t>RME hardware primitives</a:t>
            </a:r>
            <a:endParaRPr lang="en-US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strike="noStrike" cap="none" spc="0">
                <a:latin typeface="Microsoft Sans Serif"/>
                <a:ea typeface="Microsoft Sans Serif"/>
                <a:cs typeface="Microsoft Sans Serif"/>
              </a:rPr>
              <a:t>dedicated root state</a:t>
            </a:r>
            <a:endParaRPr lang="it-IT" sz="200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0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chemeClr val="tx2">
                  <a:lumMod val="75000"/>
                  <a:lumOff val="25000"/>
                </a:schemeClr>
              </a:buClr>
              <a:buSzPct val="150000"/>
              <a:buFont typeface="Wingdings"/>
              <a:buChar char="§"/>
              <a:defRPr/>
            </a:pPr>
            <a:r>
              <a:rPr lang="en-US" sz="2000" b="1" strike="noStrike" cap="none" spc="0">
                <a:latin typeface="Microsoft Sans Serif"/>
                <a:ea typeface="Microsoft Sans Serif"/>
                <a:cs typeface="Microsoft Sans Serif"/>
              </a:rPr>
              <a:t>however there is a lot of work about some concerns</a:t>
            </a:r>
            <a:endParaRPr lang="en-US" sz="2000" b="1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strike="noStrike" cap="none" spc="0">
                <a:latin typeface="Microsoft Sans Serif"/>
                <a:ea typeface="Microsoft Sans Serif"/>
                <a:cs typeface="Microsoft Sans Serif"/>
              </a:rPr>
              <a:t>privacy (for attestation)</a:t>
            </a:r>
            <a:endParaRPr lang="en-US" sz="20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strike="noStrike" cap="none" spc="0">
                <a:latin typeface="Microsoft Sans Serif"/>
                <a:ea typeface="Microsoft Sans Serif"/>
                <a:cs typeface="Microsoft Sans Serif"/>
              </a:rPr>
              <a:t>availability of the realms</a:t>
            </a:r>
            <a:endParaRPr lang="en-US" sz="2000" b="0" strike="noStrike" cap="none" spc="0">
              <a:latin typeface="Microsoft Sans Serif"/>
              <a:ea typeface="Microsoft Sans Serif"/>
              <a:cs typeface="Microsoft Sans Serif"/>
            </a:endParaRPr>
          </a:p>
          <a:p>
            <a:pPr lvl="1" algn="l" defTabSz="914400" rtl="0">
              <a:lnSpc>
                <a:spcPct val="90000"/>
              </a:lnSpc>
              <a:spcBef>
                <a:spcPts val="719"/>
              </a:spcBef>
              <a:spcAft>
                <a:spcPts val="0"/>
              </a:spcAft>
              <a:buClr>
                <a:srgbClr val="C00000"/>
              </a:buClr>
              <a:buSzPct val="150000"/>
              <a:buFont typeface="Wingdings"/>
              <a:buChar char="§"/>
              <a:defRPr/>
            </a:pPr>
            <a:r>
              <a:rPr lang="en-US" sz="2000" b="0" strike="noStrike" cap="none" spc="0">
                <a:latin typeface="Microsoft Sans Serif"/>
                <a:ea typeface="Microsoft Sans Serif"/>
                <a:cs typeface="Microsoft Sans Serif"/>
              </a:rPr>
              <a:t>performance overhead of end-user devices</a:t>
            </a:r>
            <a:endParaRPr sz="2400" b="0" strike="noStrike" cap="none" spc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211484112" name="Segnaposto piè di pagina 3"/>
          <p:cNvSpPr>
            <a:spLocks noGrp="1"/>
          </p:cNvSpPr>
          <p:nvPr>
            <p:ph type="ftr" sz="quarter" idx="11"/>
          </p:nvPr>
        </p:nvSpPr>
        <p:spPr bwMode="auto">
          <a:xfrm>
            <a:off x="685872" y="6356350"/>
            <a:ext cx="7954174" cy="365124"/>
          </a:xfrm>
        </p:spPr>
        <p:txBody>
          <a:bodyPr/>
          <a:lstStyle/>
          <a:p>
            <a:pPr>
              <a:defRPr/>
            </a:pPr>
            <a:r>
              <a:rPr/>
              <a:t>Arm CCA - AISS Workgroup |  Antonio Di Ponzio (s347920) -​ Nicolò Dalmazzo (s338766) | A.y. 2025-2026</a:t>
            </a:r>
            <a:endParaRPr/>
          </a:p>
        </p:txBody>
      </p:sp>
      <p:sp>
        <p:nvSpPr>
          <p:cNvPr id="117560949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2A5F8EC-C9CB-102F-F0FE-DDECE9DE265B}" type="slidenum">
              <a:rPr lang="de-DE"/>
              <a:t>21</a:t>
            </a:fld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onlyoffice/9.2.1.8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Nicolò Dalmazzo</cp:lastModifiedBy>
  <cp:revision>28</cp:revision>
  <dcterms:created xsi:type="dcterms:W3CDTF">2025-12-18T17:52:25Z</dcterms:created>
  <dcterms:modified xsi:type="dcterms:W3CDTF">2026-01-13T15:20:59Z</dcterms:modified>
</cp:coreProperties>
</file>