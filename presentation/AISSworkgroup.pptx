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906000" cy="6858000" type="A4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32" d="41"/>
          <a:sy n="111" d="122"/>
        </p:scale>
        <p:origin x="68" y="105"/>
      </p:cViewPr>
      <p:guideLst>
        <p:guide pos="312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28203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659500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3713060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1495567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7540080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5416940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573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8300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0478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F5156-8110-4AA1-43A2-7E826389B8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569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4338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4673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88AD98-A071-7668-C78D-BE5357F7EE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5867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0135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2858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BED46-DD4C-B4F6-6901-E69992A68C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6167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74830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447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9824A5-6C64-E501-E8FE-617B162162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2314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5783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615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9751E-D879-0785-CED1-6F212024F8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515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95919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46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9AC263-E39D-28D9-C216-D7135E02FA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4741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1629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6922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54171F-83F8-7200-154E-E85F0B51B9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986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0880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274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1C0126-3EE4-344C-A7C3-9D8F7F6352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377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63817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26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5546F5-B611-573A-3D20-5639F80028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1631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5732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864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648E40-9507-8883-8435-CB8DD979A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252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9579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485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FABDD1-EA0F-959F-7502-0B7492C02F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757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4883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122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C2A4A5-D291-5EF4-5688-CE24BF6133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4157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0100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0592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E0566D-7517-5F88-B746-36E827FAE8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9662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8888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9746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1DF540-B378-CE41-8A73-B61B4BE2AC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881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7347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133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4DB19F-7E1C-2E89-C7C9-A1AAA86155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06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6083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693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E6C1F2-DCB1-483B-AF6F-1F67FA5C0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0563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4572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822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90AEFA-AD1D-3ABB-654D-40337D37FB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5633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6385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3158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9F78AB-BFA9-A13D-6031-7686C7365F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3650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522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48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9213EE-9338-67BA-E130-3C5B55413A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3146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8479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3223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4AE64A-1496-0EE7-B09A-5F2A6BD149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6669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4698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695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A904CD-801B-9575-FB21-87A0399AE7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659861" name="Titolo 1"/>
          <p:cNvSpPr>
            <a:spLocks noGrp="1"/>
          </p:cNvSpPr>
          <p:nvPr>
            <p:ph type="ctrTitle"/>
          </p:nvPr>
        </p:nvSpPr>
        <p:spPr bwMode="auto"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9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468198022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50"/>
            </a:lvl2pPr>
            <a:lvl3pPr marL="742950" indent="0" algn="ctr">
              <a:buNone/>
              <a:defRPr sz="1450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1202856077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4A8E5F-40E5-4553-9F3C-699F1A5B8145}" type="datetimeFigureOut">
              <a:rPr lang="de-DE"/>
              <a:t>13.01.2026</a:t>
            </a:fld>
            <a:endParaRPr lang="de-DE"/>
          </a:p>
        </p:txBody>
      </p:sp>
      <p:sp>
        <p:nvSpPr>
          <p:cNvPr id="1190700079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2026376442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6CD45B7-DFE2-4393-8D37-380FC36BF3AA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149253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1937609777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de-DE"/>
          </a:p>
        </p:txBody>
      </p:sp>
      <p:sp>
        <p:nvSpPr>
          <p:cNvPr id="1957779406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4A8E5F-40E5-4553-9F3C-699F1A5B8145}" type="datetimeFigureOut">
              <a:rPr lang="de-DE"/>
              <a:t>13.01.2026</a:t>
            </a:fld>
            <a:endParaRPr lang="de-DE"/>
          </a:p>
        </p:txBody>
      </p:sp>
      <p:sp>
        <p:nvSpPr>
          <p:cNvPr id="1780126439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689334477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6CD45B7-DFE2-4393-8D37-380FC36BF3AA}" type="slidenum">
              <a:rPr lang="de-DE"/>
              <a:t>9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Intestazione se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716399" name="Titolo 1"/>
          <p:cNvSpPr>
            <a:spLocks noGrp="1"/>
          </p:cNvSpPr>
          <p:nvPr>
            <p:ph type="title"/>
          </p:nvPr>
        </p:nvSpPr>
        <p:spPr bwMode="auto">
          <a:xfrm>
            <a:off x="675878" y="1709739"/>
            <a:ext cx="8543925" cy="2852737"/>
          </a:xfrm>
        </p:spPr>
        <p:txBody>
          <a:bodyPr anchor="b"/>
          <a:lstStyle>
            <a:lvl1pPr>
              <a:defRPr sz="49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1894851817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1pPr>
            <a:lvl2pPr marL="371475" indent="0">
              <a:buNone/>
              <a:defRPr sz="1650">
                <a:solidFill>
                  <a:schemeClr val="tx1">
                    <a:tint val="82000"/>
                  </a:schemeClr>
                </a:solidFill>
              </a:defRPr>
            </a:lvl2pPr>
            <a:lvl3pPr marL="742950" indent="0">
              <a:buNone/>
              <a:defRPr sz="1450">
                <a:solidFill>
                  <a:schemeClr val="tx1">
                    <a:tint val="82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732925956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4A8E5F-40E5-4553-9F3C-699F1A5B8145}" type="datetimeFigureOut">
              <a:rPr lang="de-DE"/>
              <a:t>13.01.2026</a:t>
            </a:fld>
            <a:endParaRPr lang="de-DE"/>
          </a:p>
        </p:txBody>
      </p:sp>
      <p:sp>
        <p:nvSpPr>
          <p:cNvPr id="1455039969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021676640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6CD45B7-DFE2-4393-8D37-380FC36BF3AA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053864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1387398084" name="Segnaposto contenuto 2"/>
          <p:cNvSpPr>
            <a:spLocks noGrp="1"/>
          </p:cNvSpPr>
          <p:nvPr>
            <p:ph sz="half" idx="1"/>
          </p:nvPr>
        </p:nvSpPr>
        <p:spPr bwMode="auto">
          <a:xfrm>
            <a:off x="681037" y="1825625"/>
            <a:ext cx="421005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de-DE"/>
          </a:p>
        </p:txBody>
      </p:sp>
      <p:sp>
        <p:nvSpPr>
          <p:cNvPr id="1569909829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5014913" y="1825625"/>
            <a:ext cx="421005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de-DE"/>
          </a:p>
        </p:txBody>
      </p:sp>
      <p:sp>
        <p:nvSpPr>
          <p:cNvPr id="1516717237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4A8E5F-40E5-4553-9F3C-699F1A5B8145}" type="datetimeFigureOut">
              <a:rPr lang="de-DE"/>
              <a:t>13.01.2026</a:t>
            </a:fld>
            <a:endParaRPr lang="de-DE"/>
          </a:p>
        </p:txBody>
      </p:sp>
      <p:sp>
        <p:nvSpPr>
          <p:cNvPr id="478392322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277546770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6CD45B7-DFE2-4393-8D37-380FC36BF3AA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287660" name="Titolo 1"/>
          <p:cNvSpPr>
            <a:spLocks noGrp="1"/>
          </p:cNvSpPr>
          <p:nvPr>
            <p:ph type="title"/>
          </p:nvPr>
        </p:nvSpPr>
        <p:spPr bwMode="auto">
          <a:xfrm>
            <a:off x="682328" y="365126"/>
            <a:ext cx="8543925" cy="1325563"/>
          </a:xfrm>
        </p:spPr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1822984705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50" b="1"/>
            </a:lvl2pPr>
            <a:lvl3pPr marL="742950" indent="0">
              <a:buNone/>
              <a:defRPr sz="1450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496018232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682328" y="2505074"/>
            <a:ext cx="4190702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de-DE"/>
          </a:p>
        </p:txBody>
      </p:sp>
      <p:sp>
        <p:nvSpPr>
          <p:cNvPr id="1831300076" name="Segnaposto testo 4"/>
          <p:cNvSpPr>
            <a:spLocks noGrp="1"/>
          </p:cNvSpPr>
          <p:nvPr>
            <p:ph type="body" sz="quarter" idx="3"/>
          </p:nvPr>
        </p:nvSpPr>
        <p:spPr bwMode="auto"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50" b="1"/>
            </a:lvl2pPr>
            <a:lvl3pPr marL="742950" indent="0">
              <a:buNone/>
              <a:defRPr sz="1450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281078882" name="Segnaposto contenuto 5"/>
          <p:cNvSpPr>
            <a:spLocks noGrp="1"/>
          </p:cNvSpPr>
          <p:nvPr>
            <p:ph sz="quarter" idx="4"/>
          </p:nvPr>
        </p:nvSpPr>
        <p:spPr bwMode="auto">
          <a:xfrm>
            <a:off x="5014913" y="2505074"/>
            <a:ext cx="4211340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de-DE"/>
          </a:p>
        </p:txBody>
      </p:sp>
      <p:sp>
        <p:nvSpPr>
          <p:cNvPr id="1950341781" name="Segnaposto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4A8E5F-40E5-4553-9F3C-699F1A5B8145}" type="datetimeFigureOut">
              <a:rPr lang="de-DE"/>
              <a:t>13.01.2026</a:t>
            </a:fld>
            <a:endParaRPr lang="de-DE"/>
          </a:p>
        </p:txBody>
      </p:sp>
      <p:sp>
        <p:nvSpPr>
          <p:cNvPr id="830151620" name="Segnaposto piè di pa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622021200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6CD45B7-DFE2-4393-8D37-380FC36BF3AA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315505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1816149534" name="Segnaposto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4A8E5F-40E5-4553-9F3C-699F1A5B8145}" type="datetimeFigureOut">
              <a:rPr lang="de-DE"/>
              <a:t>13.01.2026</a:t>
            </a:fld>
            <a:endParaRPr lang="de-DE"/>
          </a:p>
        </p:txBody>
      </p:sp>
      <p:sp>
        <p:nvSpPr>
          <p:cNvPr id="1262968246" name="Segnaposto piè di pa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628395175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6CD45B7-DFE2-4393-8D37-380FC36BF3AA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085861" name="Segnaposto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4A8E5F-40E5-4553-9F3C-699F1A5B8145}" type="datetimeFigureOut">
              <a:rPr lang="de-DE"/>
              <a:t>13.01.2026</a:t>
            </a:fld>
            <a:endParaRPr lang="de-DE"/>
          </a:p>
        </p:txBody>
      </p:sp>
      <p:sp>
        <p:nvSpPr>
          <p:cNvPr id="1433650885" name="Segnaposto piè di pa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710270276" name="Segnaposto numero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6CD45B7-DFE2-4393-8D37-380FC36BF3AA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to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84338" name="Titolo 1"/>
          <p:cNvSpPr>
            <a:spLocks noGrp="1"/>
          </p:cNvSpPr>
          <p:nvPr>
            <p:ph type="title"/>
          </p:nvPr>
        </p:nvSpPr>
        <p:spPr bwMode="auto"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2041403189" name="Segnaposto contenuto 2"/>
          <p:cNvSpPr>
            <a:spLocks noGrp="1"/>
          </p:cNvSpPr>
          <p:nvPr>
            <p:ph idx="1"/>
          </p:nvPr>
        </p:nvSpPr>
        <p:spPr bwMode="auto"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300"/>
            </a:lvl2pPr>
            <a:lvl3pPr>
              <a:defRPr sz="195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de-DE"/>
          </a:p>
        </p:txBody>
      </p:sp>
      <p:sp>
        <p:nvSpPr>
          <p:cNvPr id="1115392785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50"/>
            </a:lvl2pPr>
            <a:lvl3pPr marL="742950" indent="0">
              <a:buNone/>
              <a:defRPr sz="1000"/>
            </a:lvl3pPr>
            <a:lvl4pPr marL="1114425" indent="0">
              <a:buNone/>
              <a:defRPr sz="800"/>
            </a:lvl4pPr>
            <a:lvl5pPr marL="1485900" indent="0">
              <a:buNone/>
              <a:defRPr sz="800"/>
            </a:lvl5pPr>
            <a:lvl6pPr marL="1857375" indent="0">
              <a:buNone/>
              <a:defRPr sz="800"/>
            </a:lvl6pPr>
            <a:lvl7pPr marL="2228850" indent="0">
              <a:buNone/>
              <a:defRPr sz="800"/>
            </a:lvl7pPr>
            <a:lvl8pPr marL="2600325" indent="0">
              <a:buNone/>
              <a:defRPr sz="800"/>
            </a:lvl8pPr>
            <a:lvl9pPr marL="2971800" indent="0">
              <a:buNone/>
              <a:defRPr sz="8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644320576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4A8E5F-40E5-4553-9F3C-699F1A5B8145}" type="datetimeFigureOut">
              <a:rPr lang="de-DE"/>
              <a:t>13.01.2026</a:t>
            </a:fld>
            <a:endParaRPr lang="de-DE"/>
          </a:p>
        </p:txBody>
      </p:sp>
      <p:sp>
        <p:nvSpPr>
          <p:cNvPr id="725345390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415624097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6CD45B7-DFE2-4393-8D37-380FC36BF3AA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magine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628563" name="Titolo 1"/>
          <p:cNvSpPr>
            <a:spLocks noGrp="1"/>
          </p:cNvSpPr>
          <p:nvPr>
            <p:ph type="title"/>
          </p:nvPr>
        </p:nvSpPr>
        <p:spPr bwMode="auto"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1011136337" name="Segnaposto immagine 2"/>
          <p:cNvSpPr>
            <a:spLocks noGrp="1"/>
          </p:cNvSpPr>
          <p:nvPr>
            <p:ph type="pic" idx="1"/>
          </p:nvPr>
        </p:nvSpPr>
        <p:spPr bwMode="auto"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300"/>
            </a:lvl2pPr>
            <a:lvl3pPr marL="742950" indent="0">
              <a:buNone/>
              <a:defRPr sz="1950"/>
            </a:lvl3pPr>
            <a:lvl4pPr marL="1114425" indent="0">
              <a:buNone/>
              <a:defRPr sz="1650"/>
            </a:lvl4pPr>
            <a:lvl5pPr marL="1485900" indent="0">
              <a:buNone/>
              <a:defRPr sz="1650"/>
            </a:lvl5pPr>
            <a:lvl6pPr marL="1857375" indent="0">
              <a:buNone/>
              <a:defRPr sz="1650"/>
            </a:lvl6pPr>
            <a:lvl7pPr marL="2228850" indent="0">
              <a:buNone/>
              <a:defRPr sz="1650"/>
            </a:lvl7pPr>
            <a:lvl8pPr marL="2600325" indent="0">
              <a:buNone/>
              <a:defRPr sz="1650"/>
            </a:lvl8pPr>
            <a:lvl9pPr marL="2971800" indent="0">
              <a:buNone/>
              <a:defRPr sz="165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16658803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50"/>
            </a:lvl2pPr>
            <a:lvl3pPr marL="742950" indent="0">
              <a:buNone/>
              <a:defRPr sz="1000"/>
            </a:lvl3pPr>
            <a:lvl4pPr marL="1114425" indent="0">
              <a:buNone/>
              <a:defRPr sz="800"/>
            </a:lvl4pPr>
            <a:lvl5pPr marL="1485900" indent="0">
              <a:buNone/>
              <a:defRPr sz="800"/>
            </a:lvl5pPr>
            <a:lvl6pPr marL="1857375" indent="0">
              <a:buNone/>
              <a:defRPr sz="800"/>
            </a:lvl6pPr>
            <a:lvl7pPr marL="2228850" indent="0">
              <a:buNone/>
              <a:defRPr sz="800"/>
            </a:lvl7pPr>
            <a:lvl8pPr marL="2600325" indent="0">
              <a:buNone/>
              <a:defRPr sz="800"/>
            </a:lvl8pPr>
            <a:lvl9pPr marL="2971800" indent="0">
              <a:buNone/>
              <a:defRPr sz="8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2024863552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4A8E5F-40E5-4553-9F3C-699F1A5B8145}" type="datetimeFigureOut">
              <a:rPr lang="de-DE"/>
              <a:t>13.01.2026</a:t>
            </a:fld>
            <a:endParaRPr lang="de-DE"/>
          </a:p>
        </p:txBody>
      </p:sp>
      <p:sp>
        <p:nvSpPr>
          <p:cNvPr id="1426398622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897433330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6CD45B7-DFE2-4393-8D37-380FC36BF3AA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03717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801300740" name="Segnaposto testo verticale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de-DE"/>
          </a:p>
        </p:txBody>
      </p:sp>
      <p:sp>
        <p:nvSpPr>
          <p:cNvPr id="445675354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4A8E5F-40E5-4553-9F3C-699F1A5B8145}" type="datetimeFigureOut">
              <a:rPr lang="de-DE"/>
              <a:t>13.01.2026</a:t>
            </a:fld>
            <a:endParaRPr lang="de-DE"/>
          </a:p>
        </p:txBody>
      </p:sp>
      <p:sp>
        <p:nvSpPr>
          <p:cNvPr id="1526271213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56402395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6CD45B7-DFE2-4393-8D37-380FC36BF3AA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672473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7088981" y="365125"/>
            <a:ext cx="2135981" cy="5811838"/>
          </a:xfrm>
        </p:spPr>
        <p:txBody>
          <a:bodyPr vert="eaVert"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1306359648" name="Segnaposto testo verticale 2"/>
          <p:cNvSpPr>
            <a:spLocks noGrp="1"/>
          </p:cNvSpPr>
          <p:nvPr>
            <p:ph type="body" orient="vert" idx="1"/>
          </p:nvPr>
        </p:nvSpPr>
        <p:spPr bwMode="auto">
          <a:xfrm>
            <a:off x="681037" y="365125"/>
            <a:ext cx="6284119" cy="5811838"/>
          </a:xfrm>
        </p:spPr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de-DE"/>
          </a:p>
        </p:txBody>
      </p:sp>
      <p:sp>
        <p:nvSpPr>
          <p:cNvPr id="1813061035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64A8E5F-40E5-4553-9F3C-699F1A5B8145}" type="datetimeFigureOut">
              <a:rPr lang="de-DE"/>
              <a:t>13.01.2026</a:t>
            </a:fld>
            <a:endParaRPr lang="de-DE"/>
          </a:p>
        </p:txBody>
      </p:sp>
      <p:sp>
        <p:nvSpPr>
          <p:cNvPr id="1100405453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095970665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6CD45B7-DFE2-4393-8D37-380FC36BF3AA}" type="slidenum">
              <a:rPr lang="de-DE"/>
              <a:t>&lt;#&gt;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853620" name="Segnaposto titolo 1"/>
          <p:cNvSpPr>
            <a:spLocks noGrp="1"/>
          </p:cNvSpPr>
          <p:nvPr>
            <p:ph type="title"/>
          </p:nvPr>
        </p:nvSpPr>
        <p:spPr bwMode="auto">
          <a:xfrm>
            <a:off x="681037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212287814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681037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de-DE"/>
          </a:p>
        </p:txBody>
      </p:sp>
      <p:sp>
        <p:nvSpPr>
          <p:cNvPr id="378011145" name="Segnaposto data 3"/>
          <p:cNvSpPr>
            <a:spLocks noGrp="1"/>
          </p:cNvSpPr>
          <p:nvPr>
            <p:ph type="dt" sz="half" idx="2"/>
          </p:nvPr>
        </p:nvSpPr>
        <p:spPr bwMode="auto">
          <a:xfrm>
            <a:off x="681037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F64A8E5F-40E5-4553-9F3C-699F1A5B8145}" type="datetimeFigureOut">
              <a:rPr lang="de-DE"/>
              <a:t>13.01.2026</a:t>
            </a:fld>
            <a:endParaRPr lang="de-DE"/>
          </a:p>
        </p:txBody>
      </p:sp>
      <p:sp>
        <p:nvSpPr>
          <p:cNvPr id="502723996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658900313" name="Segnaposto numero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66CD45B7-DFE2-4393-8D37-380FC36BF3AA}" type="slidenum">
              <a:rPr lang="de-DE"/>
              <a:t>9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media1.sv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media2.sv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ietf.org/archive/id/draft-ffm-rats-cca-token-02.html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rfc-editor.org/rfc/rfc9334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257918" name="Rectangle: Diagonal Corners Snipped 3"/>
          <p:cNvSpPr/>
          <p:nvPr/>
        </p:nvSpPr>
        <p:spPr bwMode="auto">
          <a:xfrm flipH="0" flipV="0">
            <a:off x="1238249" y="1121006"/>
            <a:ext cx="7429500" cy="4036366"/>
          </a:xfrm>
          <a:prstGeom prst="snip2DiagRect">
            <a:avLst>
              <a:gd name="adj1" fmla="val 28899"/>
              <a:gd name="adj2" fmla="val 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645295" name="Titolo 1"/>
          <p:cNvSpPr>
            <a:spLocks noGrp="1"/>
          </p:cNvSpPr>
          <p:nvPr>
            <p:ph type="ctrTitle"/>
          </p:nvPr>
        </p:nvSpPr>
        <p:spPr bwMode="auto">
          <a:xfrm flipH="0" flipV="0">
            <a:off x="1238249" y="1945390"/>
            <a:ext cx="7429500" cy="23875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 sz="50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Arm CCA </a:t>
            </a:r>
            <a:r>
              <a:rPr lang="it-IT" sz="5000">
                <a:solidFill>
                  <a:schemeClr val="bg1"/>
                </a:solidFill>
                <a:latin typeface="Times New Roman"/>
              </a:rPr>
              <a:t>vs TrustZone:</a:t>
            </a:r>
            <a:br>
              <a:rPr lang="it-IT" sz="5000">
                <a:solidFill>
                  <a:schemeClr val="bg1"/>
                </a:solidFill>
                <a:latin typeface="Times New Roman"/>
              </a:rPr>
            </a:br>
            <a:r>
              <a:rPr lang="it-IT" sz="5000">
                <a:solidFill>
                  <a:schemeClr val="bg1"/>
                </a:solidFill>
                <a:latin typeface="Times New Roman"/>
              </a:rPr>
              <a:t>A Critical Comparative Review</a:t>
            </a:r>
            <a:endParaRPr lang="en-US" sz="4850">
              <a:solidFill>
                <a:schemeClr val="bg1"/>
              </a:solidFill>
              <a:latin typeface="Times New Roman"/>
            </a:endParaRPr>
          </a:p>
        </p:txBody>
      </p:sp>
      <p:sp>
        <p:nvSpPr>
          <p:cNvPr id="1895486613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238250" y="5520360"/>
            <a:ext cx="74295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 sz="2000">
                <a:latin typeface="Microsoft Sans Serif"/>
                <a:ea typeface="Microsoft Sans Serif"/>
                <a:cs typeface="Microsoft Sans Serif"/>
              </a:rPr>
              <a:t>Antonio Di </a:t>
            </a:r>
            <a:r>
              <a:rPr lang="de-DE" sz="2000">
                <a:latin typeface="Microsoft Sans Serif"/>
                <a:ea typeface="Microsoft Sans Serif"/>
                <a:cs typeface="Microsoft Sans Serif"/>
              </a:rPr>
              <a:t>Ponzio</a:t>
            </a:r>
            <a:r>
              <a:rPr lang="de-DE" sz="2000">
                <a:latin typeface="Microsoft Sans Serif"/>
                <a:ea typeface="Microsoft Sans Serif"/>
                <a:cs typeface="Microsoft Sans Serif"/>
              </a:rPr>
              <a:t> (s347920)</a:t>
            </a:r>
            <a:endParaRPr sz="2000"/>
          </a:p>
          <a:p>
            <a:pPr>
              <a:defRPr/>
            </a:pPr>
            <a:r>
              <a:rPr lang="de-DE" sz="2000">
                <a:latin typeface="Microsoft Sans Serif"/>
                <a:ea typeface="Microsoft Sans Serif"/>
                <a:cs typeface="Microsoft Sans Serif"/>
              </a:rPr>
              <a:t>Nicolò </a:t>
            </a:r>
            <a:r>
              <a:rPr lang="de-DE" sz="2000">
                <a:latin typeface="Microsoft Sans Serif"/>
                <a:ea typeface="Microsoft Sans Serif"/>
                <a:cs typeface="Microsoft Sans Serif"/>
              </a:rPr>
              <a:t>Dalmazzo</a:t>
            </a:r>
            <a:r>
              <a:rPr lang="de-DE" sz="2000">
                <a:latin typeface="Microsoft Sans Serif"/>
                <a:ea typeface="Microsoft Sans Serif"/>
                <a:cs typeface="Microsoft Sans Serif"/>
              </a:rPr>
              <a:t> (s338766)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035479" name="Titolo 1"/>
          <p:cNvSpPr>
            <a:spLocks noGrp="1"/>
          </p:cNvSpPr>
          <p:nvPr>
            <p:ph type="title"/>
          </p:nvPr>
        </p:nvSpPr>
        <p:spPr bwMode="auto">
          <a:xfrm>
            <a:off x="399540" y="130493"/>
            <a:ext cx="8537223" cy="742332"/>
          </a:xfrm>
        </p:spPr>
        <p:txBody>
          <a:bodyPr/>
          <a:lstStyle/>
          <a:p>
            <a:pPr>
              <a:defRPr/>
            </a:pPr>
            <a:r>
              <a:rPr lang="en-US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Table of Contents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028261441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593907" y="940721"/>
            <a:ext cx="8543925" cy="501240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Why Confidential Computing</a:t>
            </a:r>
            <a:endParaRPr lang="en-US" sz="2000" b="1" i="0" u="none" strike="noStrike" cap="none" spc="0">
              <a:solidFill>
                <a:schemeClr val="tx1"/>
              </a:solidFill>
              <a:latin typeface="Microsoft Sans Serif"/>
              <a:ea typeface="Microsoft Sans Serif"/>
              <a:cs typeface="Microsoft Sans Serif"/>
            </a:endParaRPr>
          </a:p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Arm TrustZone</a:t>
            </a:r>
            <a:endParaRPr lang="en-US" sz="2000" b="1" i="0" u="none" strike="noStrike" cap="none" spc="0">
              <a:solidFill>
                <a:schemeClr val="tx1"/>
              </a:solidFill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Architecture and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Downsides</a:t>
            </a:r>
            <a:endParaRPr lang="en-US" sz="2000" b="0" i="0" u="none" strike="noStrike" cap="none" spc="0">
              <a:solidFill>
                <a:schemeClr val="tx1"/>
              </a:solidFill>
              <a:latin typeface="Microsoft Sans Serif"/>
              <a:ea typeface="Microsoft Sans Serif"/>
              <a:cs typeface="Microsoft Sans Serif"/>
            </a:endParaRPr>
          </a:p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Arm CCA</a:t>
            </a:r>
            <a:endParaRPr lang="en-US" sz="2000" b="1" i="0" u="none" strike="noStrike" cap="none" spc="0">
              <a:solidFill>
                <a:schemeClr val="tx1"/>
              </a:solidFill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Hardware and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Software Components</a:t>
            </a:r>
            <a:endParaRPr lang="en-US" sz="2000" b="0" i="0" u="none" strike="noStrike" cap="none" spc="0">
              <a:solidFill>
                <a:schemeClr val="tx1"/>
              </a:solidFill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Attestation in Arm CCA</a:t>
            </a:r>
            <a:endParaRPr lang="en-US" sz="2400" b="0" i="0" u="none" strike="noStrike" cap="none" spc="0">
              <a:solidFill>
                <a:schemeClr val="tx1"/>
              </a:solidFill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Delegated and Direct Attester</a:t>
            </a:r>
            <a:endParaRPr lang="en-US" sz="2000" b="0" i="0" u="none" strike="noStrike" cap="none" spc="0">
              <a:solidFill>
                <a:schemeClr val="tx1"/>
              </a:solidFill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TrustZone vs CCA</a:t>
            </a:r>
            <a:endParaRPr lang="en-US" sz="2000" b="1" i="0" u="none" strike="noStrike" cap="none" spc="0">
              <a:solidFill>
                <a:schemeClr val="tx1"/>
              </a:solidFill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architecture/use cases/attestation comparison and considerations</a:t>
            </a:r>
            <a:endParaRPr sz="2000" b="0" i="0" u="none" strike="noStrike" cap="none" spc="0">
              <a:solidFill>
                <a:schemeClr val="tx1"/>
              </a:solidFill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Conclusion</a:t>
            </a:r>
            <a:endParaRPr sz="1600" b="1" i="0" u="none" strike="noStrike" cap="none" spc="0">
              <a:solidFill>
                <a:schemeClr val="tx1"/>
              </a:solidFill>
              <a:latin typeface="Microsoft Sans Serif"/>
              <a:ea typeface="Microsoft Sans Serif"/>
              <a:cs typeface="Microsoft Sans Serif"/>
            </a:endParaRPr>
          </a:p>
          <a:p>
            <a:pPr algn="l" defTabSz="914400" rtl="0">
              <a:lnSpc>
                <a:spcPct val="90000"/>
              </a:lnSpc>
              <a:spcBef>
                <a:spcPts val="997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endParaRPr lang="en-US" sz="2000" b="1" i="0" u="none" strike="noStrike" cap="none" spc="0">
              <a:solidFill>
                <a:schemeClr val="tx1"/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0" lvl="0" indent="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None/>
              <a:defRPr/>
            </a:pPr>
            <a:endParaRPr lang="en-US" sz="2000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632907097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91064" y="6356350"/>
            <a:ext cx="7954174" cy="365125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021948483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6CD45B7-DFE2-4393-8D37-380FC36BF3AA}" type="slidenum">
              <a:rPr lang="de-DE"/>
              <a:t>2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577250" name="Titolo 1"/>
          <p:cNvSpPr>
            <a:spLocks noGrp="1"/>
          </p:cNvSpPr>
          <p:nvPr>
            <p:ph type="title"/>
          </p:nvPr>
        </p:nvSpPr>
        <p:spPr bwMode="auto">
          <a:xfrm>
            <a:off x="399539" y="130492"/>
            <a:ext cx="8537222" cy="742331"/>
          </a:xfrm>
        </p:spPr>
        <p:txBody>
          <a:bodyPr/>
          <a:lstStyle/>
          <a:p>
            <a:pPr>
              <a:defRPr/>
            </a:pPr>
            <a:r>
              <a:rPr lang="en-GB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Why</a:t>
            </a: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 </a:t>
            </a:r>
            <a:r>
              <a:rPr lang="en-GB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Confidential</a:t>
            </a:r>
            <a:r>
              <a:rPr lang="en-GB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 </a:t>
            </a: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Computing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527483424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593905" y="940719"/>
            <a:ext cx="8543925" cy="530703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cloud environments host large variety of services</a:t>
            </a:r>
            <a:endParaRPr lang="it-IT" sz="20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 algn="l" defTabSz="914400" rtl="0">
              <a:lnSpc>
                <a:spcPct val="10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machine learning models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 algn="l" defTabSz="914400" rtl="0">
              <a:lnSpc>
                <a:spcPct val="10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multimedia services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 algn="l" defTabSz="914400" rtl="0">
              <a:lnSpc>
                <a:spcPct val="10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web applications</a:t>
            </a: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large adoption of multi-tenant environments</a:t>
            </a:r>
            <a:endParaRPr sz="2000" strike="noStrike" cap="none" spc="0"/>
          </a:p>
          <a:p>
            <a:pPr lvl="1" algn="l" defTabSz="914400" rtl="0">
              <a:lnSpc>
                <a:spcPct val="10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multiple workloads coexist on same device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need guarantees of isolation for sensitive computations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confidential</a:t>
            </a: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 computing </a:t>
            </a: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protects</a:t>
            </a: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 data in use in terms of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strike="noStrike" cap="none" spc="0">
                <a:latin typeface="Microsoft Sans Serif"/>
                <a:ea typeface="Microsoft Sans Serif"/>
                <a:cs typeface="Microsoft Sans Serif"/>
              </a:rPr>
              <a:t>confidentiality</a:t>
            </a:r>
            <a:endParaRPr lang="en-US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strike="noStrike" cap="none" spc="0">
                <a:latin typeface="Microsoft Sans Serif"/>
                <a:ea typeface="Microsoft Sans Serif"/>
                <a:cs typeface="Microsoft Sans Serif"/>
              </a:rPr>
              <a:t>integrity</a:t>
            </a:r>
            <a:endParaRPr lang="en-US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accent1"/>
              </a:buClr>
              <a:buSzPct val="150000"/>
              <a:buFont typeface="Wingdings"/>
              <a:buChar char="§"/>
              <a:defRPr/>
            </a:pP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two distinct security extensions for Arm architecture</a:t>
            </a:r>
            <a:endParaRPr lang="en-US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strike="noStrike" cap="none" spc="0">
                <a:latin typeface="Microsoft Sans Serif"/>
                <a:ea typeface="Microsoft Sans Serif"/>
                <a:cs typeface="Microsoft Sans Serif"/>
              </a:rPr>
              <a:t>TrustZone</a:t>
            </a:r>
            <a:endParaRPr lang="en-US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strike="noStrike" cap="none" spc="0">
                <a:latin typeface="Microsoft Sans Serif"/>
                <a:ea typeface="Microsoft Sans Serif"/>
                <a:cs typeface="Microsoft Sans Serif"/>
              </a:rPr>
              <a:t>Confidential Compute Architecture (CCA)</a:t>
            </a:r>
            <a:endParaRPr lang="en-US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marL="0" lvl="0" indent="0" algn="l" defTabSz="914400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None/>
              <a:defRPr/>
            </a:pPr>
            <a:endParaRPr lang="en-US" sz="2000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450413191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3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912464613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5ABCED-8657-D9A7-CD84-F2A91EC224AC}" type="slidenum">
              <a:rPr lang="de-DE"/>
              <a:t>3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086969" name="Titolo 1"/>
          <p:cNvSpPr>
            <a:spLocks noGrp="1"/>
          </p:cNvSpPr>
          <p:nvPr>
            <p:ph type="title"/>
          </p:nvPr>
        </p:nvSpPr>
        <p:spPr bwMode="auto">
          <a:xfrm>
            <a:off x="399539" y="130492"/>
            <a:ext cx="8537222" cy="742331"/>
          </a:xfrm>
        </p:spPr>
        <p:txBody>
          <a:bodyPr/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TrustZone (I)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796467898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593905" y="940719"/>
            <a:ext cx="8543925" cy="521877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supports two security states</a:t>
            </a:r>
            <a:endParaRPr strike="noStrike" cap="none" spc="0"/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non-secure state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secure state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secure </a:t>
            </a: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monitor provides</a:t>
            </a: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security state switching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context save and restore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two Physical Address Spaces (PAS)</a:t>
            </a: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secure PAS (access granted only from secure state)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non-secure PAS (access granted from both states)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different implementations of attestation mechanism</a:t>
            </a: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no official standard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constraints of IoT devices could lead to insecure implementations</a:t>
            </a:r>
            <a:endParaRPr lang="it-IT" sz="16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43985403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543872774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BFAF3B3-C5AC-34FB-25A1-A6A83018A842}" type="slidenum">
              <a:rPr lang="de-DE"/>
              <a:t>4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170213" name="Titolo 1"/>
          <p:cNvSpPr>
            <a:spLocks noGrp="1"/>
          </p:cNvSpPr>
          <p:nvPr>
            <p:ph type="title"/>
          </p:nvPr>
        </p:nvSpPr>
        <p:spPr bwMode="auto">
          <a:xfrm>
            <a:off x="399539" y="130492"/>
            <a:ext cx="8537222" cy="742331"/>
          </a:xfrm>
        </p:spPr>
        <p:txBody>
          <a:bodyPr/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TrustZone (II)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113613882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323060311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249E4C2-2276-61FF-5008-6EA9A6CCFF14}" type="slidenum">
              <a:rPr lang="de-DE"/>
              <a:t>5</a:t>
            </a:fld>
            <a:endParaRPr lang="it-IT"/>
          </a:p>
        </p:txBody>
      </p:sp>
      <p:pic>
        <p:nvPicPr>
          <p:cNvPr id="950378822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90888" y="1522788"/>
            <a:ext cx="9154522" cy="39061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324740" name="Titolo 1"/>
          <p:cNvSpPr>
            <a:spLocks noGrp="1"/>
          </p:cNvSpPr>
          <p:nvPr>
            <p:ph type="title"/>
          </p:nvPr>
        </p:nvSpPr>
        <p:spPr bwMode="auto">
          <a:xfrm>
            <a:off x="399539" y="130492"/>
            <a:ext cx="8537222" cy="742331"/>
          </a:xfrm>
        </p:spPr>
        <p:txBody>
          <a:bodyPr/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TrustZone - Downsides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586031938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593905" y="940719"/>
            <a:ext cx="863105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no support for multiple trusted execution environments (TEE)</a:t>
            </a:r>
            <a:endParaRPr lang="it-IT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strike="noStrike" cap="none" spc="0">
                <a:latin typeface="Microsoft Sans Serif"/>
                <a:ea typeface="Microsoft Sans Serif"/>
                <a:cs typeface="Microsoft Sans Serif"/>
              </a:rPr>
              <a:t>isolation performed at operating system level</a:t>
            </a:r>
            <a:endParaRPr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no mutual distrust between applications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secure monitor operates in secure state</a:t>
            </a: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possible access from a compromised application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attestation </a:t>
            </a: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implementations based on static claims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no consideration on dynamic change of trusted services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002921030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033990519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16331F4-0A9E-0FB5-E72E-C84E4B3B9EA5}" type="slidenum">
              <a:rPr lang="de-DE"/>
              <a:t>6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408936" name="Titolo 1"/>
          <p:cNvSpPr>
            <a:spLocks noGrp="1"/>
          </p:cNvSpPr>
          <p:nvPr>
            <p:ph type="title"/>
          </p:nvPr>
        </p:nvSpPr>
        <p:spPr bwMode="auto">
          <a:xfrm>
            <a:off x="399539" y="130492"/>
            <a:ext cx="8537222" cy="742331"/>
          </a:xfrm>
        </p:spPr>
        <p:txBody>
          <a:bodyPr/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CCA (I)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770939599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593906" y="940720"/>
            <a:ext cx="8543925" cy="488728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support of four security states</a:t>
            </a:r>
            <a:endParaRPr strike="noStrike" cap="none" spc="0"/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secure state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non-secure state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root state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realm state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mutual isolation between realm VMs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each application isolated from hypervisor and other realms</a:t>
            </a: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strike="noStrike" cap="none" spc="0">
                <a:latin typeface="Microsoft Sans Serif"/>
                <a:ea typeface="Microsoft Sans Serif"/>
                <a:cs typeface="Microsoft Sans Serif"/>
              </a:rPr>
              <a:t>no more limit on TEE instances</a:t>
            </a:r>
            <a:endParaRPr lang="it-IT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strike="noStrike" cap="none" spc="0">
                <a:latin typeface="Microsoft Sans Serif"/>
                <a:ea typeface="Microsoft Sans Serif"/>
                <a:cs typeface="Microsoft Sans Serif"/>
              </a:rPr>
              <a:t>mutual distrust between realm and secure state</a:t>
            </a:r>
            <a:endParaRPr lang="it-IT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root state reserved for Monitor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no visibility from other security states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marL="0" lvl="0" indent="0" algn="l" defTabSz="914400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None/>
              <a:defRPr/>
            </a:pP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2057010749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947566319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DEBF43-E35F-34AD-FC17-24EE894BF2B6}" type="slidenum">
              <a:rPr lang="de-DE"/>
              <a:t>7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009043" name="Titolo 1"/>
          <p:cNvSpPr>
            <a:spLocks noGrp="1"/>
          </p:cNvSpPr>
          <p:nvPr>
            <p:ph type="title"/>
          </p:nvPr>
        </p:nvSpPr>
        <p:spPr bwMode="auto">
          <a:xfrm>
            <a:off x="399539" y="130492"/>
            <a:ext cx="8537222" cy="742331"/>
          </a:xfrm>
        </p:spPr>
        <p:txBody>
          <a:bodyPr/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CCA (II)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91132175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746775703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10151A7-DF7F-C390-1EC3-9A701B7A9AD6}" type="slidenum">
              <a:rPr lang="de-DE"/>
              <a:t>8</a:t>
            </a:fld>
            <a:endParaRPr lang="it-IT"/>
          </a:p>
        </p:txBody>
      </p:sp>
      <p:pic>
        <p:nvPicPr>
          <p:cNvPr id="737107531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246931" y="679093"/>
            <a:ext cx="9538025" cy="56058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087754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399539" y="130492"/>
            <a:ext cx="9515320" cy="74233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CCA – Hardware components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30656437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593905" y="940719"/>
            <a:ext cx="9223336" cy="54156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 defTabSz="914400" rtl="0">
              <a:lnSpc>
                <a:spcPct val="10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Realm Management Engine (RME) provides hardware primitives</a:t>
            </a:r>
            <a:endParaRPr lang="it-IT" sz="20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four PAS each associated to a security state</a:t>
            </a:r>
            <a:endParaRPr lang="it-IT" sz="20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support of granular PAS filtering</a:t>
            </a:r>
            <a:endParaRPr lang="it-IT" sz="20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dynamic allocation of single pages</a:t>
            </a: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information stored on Granule Protection Tables (GPTs)</a:t>
            </a:r>
            <a:endParaRPr lang="it-IT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in case of failure Granule Protection Fault (GPF) reported</a:t>
            </a:r>
            <a:endParaRPr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support of Memory Encryption Contexts (MEC)</a:t>
            </a:r>
            <a:endParaRPr sz="20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different for each realm</a:t>
            </a: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configured at boot time and managed run-time by MPE</a:t>
            </a:r>
            <a:endParaRPr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underlying hardware layer: Hardware Enforced Security (HES)</a:t>
            </a:r>
            <a:endParaRPr sz="20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key component for secure boot and attestation process</a:t>
            </a: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enforced with memory shielded locations</a:t>
            </a:r>
            <a:endParaRPr lang="it-IT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Root-of-Trust (RoT) for storage and for measurement</a:t>
            </a:r>
            <a:endParaRPr lang="it-IT" sz="2000" b="0" i="0" u="none" strike="noStrike" cap="none" spc="0">
              <a:solidFill>
                <a:schemeClr val="tx1"/>
              </a:solidFill>
              <a:latin typeface="Microsoft Sans Serif"/>
              <a:ea typeface="Microsoft Sans Serif"/>
              <a:cs typeface="Microsoft Sans Serif"/>
            </a:endParaRPr>
          </a:p>
          <a:p>
            <a:pPr marL="0" lvl="0" indent="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None/>
              <a:defRPr/>
            </a:pP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835708604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681816643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01B9506-60D7-197B-4922-957C0EBFF6D9}" type="slidenum">
              <a:rPr lang="de-DE"/>
              <a:t>9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555733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399539" y="130492"/>
            <a:ext cx="9444765" cy="74233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CCA – Software components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66387272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593906" y="940720"/>
            <a:ext cx="8814489" cy="5131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Monitor is responsible for</a:t>
            </a:r>
            <a:endParaRPr strike="noStrike" cap="none" spc="0"/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context switching between security states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management of GPT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platform attestation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reference impelementation: TF-A by Trusted Firmware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Realm Management Monitor (RMM) manages realm VMs</a:t>
            </a:r>
            <a:endParaRPr sz="2000" strike="noStrike" cap="none" spc="0"/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handling of hypervisor request to manage realms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provides security primitives (host request validation, realm isolation)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74284001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405011710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B589266-9402-4384-B2F8-543838DB2A55}" type="slidenum">
              <a:rPr lang="de-DE"/>
              <a:t>10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261045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399538" y="130491"/>
            <a:ext cx="8416774" cy="74232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CCA – Software interfaces</a:t>
            </a:r>
            <a:endParaRPr lang="en-US" sz="3600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2073445376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593905" y="940719"/>
            <a:ext cx="8814488" cy="51318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three interfaces for communication between host and Realms</a:t>
            </a:r>
            <a:endParaRPr strike="noStrike" cap="none" spc="0"/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Realm Management Interface (RMI)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Realm Service Interface (RSI)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Realm Host Interface (RHI)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Realm Management Interface</a:t>
            </a:r>
            <a:endParaRPr sz="2000" strike="noStrike" cap="none" spc="0"/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enable host control of realms 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strike="noStrike" cap="none" spc="0">
                <a:latin typeface="Microsoft Sans Serif"/>
                <a:ea typeface="Microsoft Sans Serif"/>
                <a:cs typeface="Microsoft Sans Serif"/>
              </a:rPr>
              <a:t>no guarantees of realms availability due to compromised host 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Realm Service Interface</a:t>
            </a:r>
            <a:endParaRPr lang="it-IT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strike="noStrike" cap="none" spc="0">
                <a:latin typeface="Microsoft Sans Serif"/>
                <a:ea typeface="Microsoft Sans Serif"/>
                <a:cs typeface="Microsoft Sans Serif"/>
              </a:rPr>
              <a:t>provide services to realms</a:t>
            </a:r>
            <a:endParaRPr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strike="noStrike" cap="none" spc="0">
                <a:latin typeface="Microsoft Sans Serif"/>
                <a:ea typeface="Microsoft Sans Serif"/>
                <a:cs typeface="Microsoft Sans Serif"/>
              </a:rPr>
              <a:t>attestation report request and accepting devices assigned to realms</a:t>
            </a:r>
            <a:endParaRPr lang="it-IT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Realm </a:t>
            </a: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Host Interface</a:t>
            </a:r>
            <a:endParaRPr lang="it-IT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it-IT" sz="2000" b="0" strike="noStrike" cap="none" spc="0">
                <a:latin typeface="Microsoft Sans Serif"/>
                <a:ea typeface="Microsoft Sans Serif"/>
                <a:cs typeface="Microsoft Sans Serif"/>
              </a:rPr>
              <a:t>enable direct communication between host and realm</a:t>
            </a:r>
            <a:r>
              <a:rPr lang="it-IT" sz="2000" b="0" strike="noStrike" cap="none" spc="0">
                <a:latin typeface="Microsoft Sans Serif"/>
                <a:ea typeface="Microsoft Sans Serif"/>
                <a:cs typeface="Microsoft Sans Serif"/>
              </a:rPr>
              <a:t>s</a:t>
            </a:r>
            <a:endParaRPr sz="2000" b="0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306207139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49"/>
            <a:ext cx="7954173" cy="365123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584054857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0399E3-091C-29E5-D993-3349190ACCB1}" type="slidenum">
              <a:rPr lang="de-DE"/>
              <a:t>11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07373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399539" y="130491"/>
            <a:ext cx="9444764" cy="74233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CCA –</a:t>
            </a:r>
            <a:r>
              <a:rPr lang="en-US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 </a:t>
            </a:r>
            <a:r>
              <a:rPr lang="en-US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Attestation </a:t>
            </a:r>
            <a:r>
              <a:rPr lang="en-US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mechanism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777383399" name="Segnaposto contenuto 2"/>
          <p:cNvSpPr>
            <a:spLocks noGrp="1"/>
          </p:cNvSpPr>
          <p:nvPr>
            <p:ph idx="1"/>
          </p:nvPr>
        </p:nvSpPr>
        <p:spPr bwMode="auto">
          <a:xfrm>
            <a:off x="593907" y="940721"/>
            <a:ext cx="85439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Arm CCA provides support for the attestation process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attestation is divided in two steps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strike="noStrike" cap="none" spc="0">
                <a:latin typeface="Microsoft Sans Serif"/>
                <a:ea typeface="Microsoft Sans Serif"/>
                <a:cs typeface="Microsoft Sans Serif"/>
              </a:rPr>
              <a:t>platform attestation</a:t>
            </a:r>
            <a:endParaRPr lang="en-US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strike="noStrike" cap="none" spc="0">
                <a:latin typeface="Microsoft Sans Serif"/>
                <a:ea typeface="Microsoft Sans Serif"/>
                <a:cs typeface="Microsoft Sans Serif"/>
              </a:rPr>
              <a:t>realm attestation</a:t>
            </a:r>
            <a:endParaRPr lang="en-US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two tokens are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cryptographically</a:t>
            </a: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 bounded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avoid decoupling of tokens</a:t>
            </a:r>
            <a:endParaRPr lang="en-US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specification is still an </a:t>
            </a:r>
            <a:r>
              <a:rPr lang="en-US" sz="2000" b="1" u="sng" strike="noStrike" cap="none" spc="0">
                <a:latin typeface="Microsoft Sans Serif"/>
                <a:ea typeface="Microsoft Sans Serif"/>
                <a:cs typeface="Microsoft Sans Serif"/>
                <a:hlinkClick r:id="rId3" tooltip=""/>
              </a:rPr>
              <a:t>RFC draft</a:t>
            </a:r>
            <a:endParaRPr sz="1200" b="1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614247065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517706429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697C3E-46F6-B26B-EBBD-674CD1C778E2}" type="slidenum">
              <a:rPr lang="de-DE"/>
              <a:t>12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001992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399539" y="130491"/>
            <a:ext cx="9444764" cy="74233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CCA – Attester architecture</a:t>
            </a:r>
            <a:r>
              <a:rPr lang="en-US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 (I)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448592237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593906" y="940720"/>
            <a:ext cx="915183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specification follows the RATS Standard (</a:t>
            </a:r>
            <a:r>
              <a:rPr lang="en-US" sz="2000" b="1" u="sng" strike="noStrike" cap="none" spc="0">
                <a:latin typeface="Microsoft Sans Serif"/>
                <a:ea typeface="Microsoft Sans Serif"/>
                <a:cs typeface="Microsoft Sans Serif"/>
                <a:hlinkClick r:id="rId3" tooltip=""/>
              </a:rPr>
              <a:t>RFC 9334</a:t>
            </a: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)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attester create evidences to send to the verifier</a:t>
            </a:r>
            <a:endParaRPr sz="28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i="0" strike="noStrike" cap="none" spc="0">
                <a:latin typeface="Microsoft Sans Serif"/>
                <a:ea typeface="Microsoft Sans Serif"/>
                <a:cs typeface="Microsoft Sans Serif"/>
              </a:rPr>
              <a:t>two different </a:t>
            </a:r>
            <a:r>
              <a:rPr lang="en-US" sz="2000" b="1" i="0" strike="noStrike" cap="none" spc="0">
                <a:latin typeface="Microsoft Sans Serif"/>
                <a:ea typeface="Microsoft Sans Serif"/>
                <a:cs typeface="Microsoft Sans Serif"/>
              </a:rPr>
              <a:t>“attesting </a:t>
            </a:r>
            <a:r>
              <a:rPr lang="en-US" sz="2000" b="1" i="0" strike="noStrike" cap="none" spc="0">
                <a:latin typeface="Microsoft Sans Serif"/>
                <a:ea typeface="Microsoft Sans Serif"/>
                <a:cs typeface="Microsoft Sans Serif"/>
              </a:rPr>
              <a:t>flavors”</a:t>
            </a:r>
            <a:endParaRPr lang="en-US" sz="2000" b="1" i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strike="noStrike" cap="none" spc="0">
                <a:latin typeface="Microsoft Sans Serif"/>
                <a:ea typeface="Microsoft Sans Serif"/>
                <a:cs typeface="Microsoft Sans Serif"/>
              </a:rPr>
              <a:t>delegated attester</a:t>
            </a:r>
            <a:endParaRPr lang="en-US" sz="2000" b="1" i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strike="noStrike" cap="none" spc="0">
                <a:latin typeface="Microsoft Sans Serif"/>
                <a:ea typeface="Microsoft Sans Serif"/>
                <a:cs typeface="Microsoft Sans Serif"/>
              </a:rPr>
              <a:t>direct attester</a:t>
            </a:r>
            <a:endParaRPr sz="16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layered attester made up by two layers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platform attester (the HES)</a:t>
            </a:r>
            <a:endParaRPr lang="en-US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realm attester (the RMM)</a:t>
            </a:r>
            <a:endParaRPr sz="2400" b="0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447670377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000591802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541DF96-E206-9DCC-A93F-5FD864587C11}" type="slidenum">
              <a:rPr lang="de-DE"/>
              <a:t>13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521279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399537" y="130491"/>
            <a:ext cx="9444761" cy="74232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CCA – Attester architecture</a:t>
            </a:r>
            <a:r>
              <a:rPr lang="en-US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 (II)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650461475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49"/>
            <a:ext cx="7954173" cy="365122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484005065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98C0FFF-FEE3-223F-0147-6742F31052E4}" type="slidenum">
              <a:rPr lang="de-DE"/>
              <a:t>14</a:t>
            </a:fld>
            <a:endParaRPr lang="it-IT"/>
          </a:p>
        </p:txBody>
      </p:sp>
      <p:pic>
        <p:nvPicPr>
          <p:cNvPr id="14804407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733742"/>
            <a:ext cx="9905999" cy="53905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35551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399539" y="130491"/>
            <a:ext cx="9444764" cy="74233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CCA – Delegated Attester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508423864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593906" y="940720"/>
            <a:ext cx="8543925" cy="49138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it needs two distinct key-pairs both generated by HES</a:t>
            </a:r>
            <a:endParaRPr sz="2000" strike="noStrike" cap="none" spc="0"/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strike="noStrike" cap="none" spc="0">
                <a:latin typeface="Microsoft Sans Serif"/>
                <a:ea typeface="Microsoft Sans Serif"/>
                <a:cs typeface="Microsoft Sans Serif"/>
              </a:rPr>
              <a:t>CCA Platform Attestation Key (CPAK) never leaves the HES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strike="noStrike" cap="none" spc="0">
                <a:latin typeface="Microsoft Sans Serif"/>
                <a:ea typeface="Microsoft Sans Serif"/>
                <a:cs typeface="Microsoft Sans Serif"/>
              </a:rPr>
              <a:t>Realm Attestation Key (RAK) leaves the HES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use of two keys is a trade-off for </a:t>
            </a: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the </a:t>
            </a: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sake of efficiency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RAK is sent to RMM after its initialization</a:t>
            </a:r>
            <a:endParaRPr lang="en-US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so HES delegates RMM to sign realm claims</a:t>
            </a:r>
            <a:endParaRPr lang="en-US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signing overhead is moved from HES to RMM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no need to re-generate platform token at each attestation request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token binding through the hash of the RAK public key (fixed value)</a:t>
            </a: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498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endParaRPr sz="1200" b="1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244416518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74655894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43ACDD-B7D1-26B6-A25E-5FF8FE5FE6D6}" type="slidenum">
              <a:rPr lang="de-DE"/>
              <a:t>15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299732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399538" y="130491"/>
            <a:ext cx="9444763" cy="74232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CCA – Attestation Process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581454324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49"/>
            <a:ext cx="7954173" cy="365123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817095079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1DA8CD5-0649-BF58-6360-E5FB12EFED3B}" type="slidenum">
              <a:rPr lang="de-DE"/>
              <a:t>16</a:t>
            </a:fld>
            <a:endParaRPr lang="it-IT"/>
          </a:p>
        </p:txBody>
      </p:sp>
      <p:pic>
        <p:nvPicPr>
          <p:cNvPr id="819912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9027" y="1852294"/>
            <a:ext cx="9735275" cy="30990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452694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399539" y="130491"/>
            <a:ext cx="9444764" cy="74233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CCA – Direct Attester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2011377988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593905" y="940719"/>
            <a:ext cx="9153634" cy="48065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direct attester uses only one key-pair (CPAK)</a:t>
            </a:r>
            <a:endParaRPr lang="en-US" strike="noStrike" cap="none" spc="0"/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strike="noStrike" cap="none" spc="0">
                <a:latin typeface="Microsoft Sans Serif"/>
                <a:ea typeface="Microsoft Sans Serif"/>
                <a:cs typeface="Microsoft Sans Serif"/>
              </a:rPr>
              <a:t>RMM is in charge only of collecting realm claims</a:t>
            </a:r>
            <a:endParaRPr lang="en-US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strike="noStrike" cap="none" spc="0">
                <a:latin typeface="Microsoft Sans Serif"/>
                <a:ea typeface="Microsoft Sans Serif"/>
                <a:cs typeface="Microsoft Sans Serif"/>
              </a:rPr>
              <a:t>only platform claims are actually signed</a:t>
            </a:r>
            <a:endParaRPr lang="en-US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RMM sends realm claims hash as </a:t>
            </a: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challenge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 with platform token request to HES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hash is signed with platform claims</a:t>
            </a:r>
            <a:endParaRPr lang="en-US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so realm claims are bounded</a:t>
            </a: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 </a:t>
            </a: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to the platform token</a:t>
            </a:r>
            <a:endParaRPr lang="en-US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no exposure of any key-pair externally to </a:t>
            </a: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HES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HES cannot pre-compute platform token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so there is more overhead on the HES</a:t>
            </a:r>
            <a:endParaRPr lang="en-US" sz="16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detailed description of direct attester is still a TODO in RFC draft</a:t>
            </a:r>
            <a:endParaRPr lang="en-US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233695550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254836504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53C58-E8F1-5A52-C604-BC1266C8C82A}" type="slidenum">
              <a:rPr lang="de-DE"/>
              <a:t>17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669650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399539" y="130491"/>
            <a:ext cx="9444764" cy="74233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TrustZone vs Arm CCA (I)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359491692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343719232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B6B5455-DAB1-AC27-7CA0-9859467966A0}" type="slidenum">
              <a:rPr lang="de-DE"/>
              <a:t>18</a:t>
            </a:fld>
            <a:endParaRPr lang="it-IT"/>
          </a:p>
        </p:txBody>
      </p:sp>
      <p:graphicFrame>
        <p:nvGraphicFramePr>
          <p:cNvPr id="218097066" name=""/>
          <p:cNvGraphicFramePr>
            <a:graphicFrameLocks xmlns:a="http://schemas.openxmlformats.org/drawingml/2006/main"/>
          </p:cNvGraphicFramePr>
          <p:nvPr/>
        </p:nvGraphicFramePr>
        <p:xfrm rot="0">
          <a:off x="399538" y="1286285"/>
          <a:ext cx="9223977" cy="460285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605638"/>
                <a:gridCol w="4605638"/>
              </a:tblGrid>
              <a:tr h="473314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000"/>
                        <a:t>Arm CCA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000"/>
                        <a:t>Arm TrustZone</a:t>
                      </a:r>
                      <a:endParaRPr sz="2000"/>
                    </a:p>
                  </a:txBody>
                  <a:tcPr/>
                </a:tc>
              </a:tr>
              <a:tr h="1231456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Ensure hardware-based mutual distrust</a:t>
                      </a:r>
                      <a:endParaRPr sz="2000" b="0" i="0" u="none" strike="noStrike" cap="none" spc="0">
                        <a:solidFill>
                          <a:schemeClr val="dk1"/>
                        </a:solidFill>
                        <a:latin typeface="Microsoft Sans Serif"/>
                        <a:cs typeface="Microsoft Sans Serif"/>
                      </a:endParaRPr>
                    </a:p>
                    <a:p>
                      <a:pPr>
                        <a:defRPr/>
                      </a:pPr>
                      <a:r>
                        <a:rPr lang="en-GB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between </a:t>
                      </a:r>
                      <a:r>
                        <a:rPr lang="en-US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distinct </a:t>
                      </a:r>
                      <a:r>
                        <a:rPr lang="it-IT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TAs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Does not ensure hardware isolation be</a:t>
                      </a:r>
                      <a:r>
                        <a:rPr lang="en-GB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tween TAs</a:t>
                      </a:r>
                      <a:endParaRPr sz="2000" b="0" i="0" u="none" strike="noStrike" cap="none" spc="0">
                        <a:solidFill>
                          <a:schemeClr val="dk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</a:tr>
              <a:tr h="841945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More flexible TA development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Complex TA development due to the lack of portable APIs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</a:tr>
              <a:tr h="841945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Flexible and unconstrained memory allocation for Realms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TAs ca</a:t>
                      </a:r>
                      <a:r>
                        <a:rPr lang="en-US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nnot</a:t>
                      </a:r>
                      <a:r>
                        <a:rPr lang="en-GB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 be large</a:t>
                      </a:r>
                      <a:r>
                        <a:rPr lang="en-US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 (few </a:t>
                      </a:r>
                      <a:r>
                        <a:rPr lang="en-GB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MB</a:t>
                      </a:r>
                      <a:r>
                        <a:rPr lang="en-US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)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</a:tr>
              <a:tr h="1201494"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Does not guarantee availability of the Realm, only confidentiality and integrity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000" b="0" i="0" u="none" strike="noStrike" cap="none" spc="0">
                          <a:solidFill>
                            <a:schemeClr val="dk1"/>
                          </a:solidFill>
                          <a:latin typeface="Microsoft Sans Serif"/>
                          <a:ea typeface="Microsoft Sans Serif"/>
                          <a:cs typeface="Microsoft Sans Serif"/>
                        </a:rPr>
                        <a:t>Ensures availability of the TA along with confidentiality and integrity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453303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399539" y="130491"/>
            <a:ext cx="9444764" cy="74233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TrustZone vs Arm CCA (II)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424293951" name="Segnaposto contenuto 2"/>
          <p:cNvSpPr>
            <a:spLocks noGrp="1"/>
          </p:cNvSpPr>
          <p:nvPr>
            <p:ph idx="1"/>
          </p:nvPr>
        </p:nvSpPr>
        <p:spPr bwMode="auto">
          <a:xfrm>
            <a:off x="593907" y="940721"/>
            <a:ext cx="85439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Arm TrustZone widely </a:t>
            </a: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adopted </a:t>
            </a: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in smartphone and IoT markets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i</a:t>
            </a: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nstead Arm CCA is more suitable for server-side machine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the VM-based approach ensures strong isolation between different services that run on the same machine</a:t>
            </a:r>
            <a:endParaRPr lang="en-US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h</a:t>
            </a:r>
            <a:r>
              <a:rPr lang="it-IT" sz="2000" b="0" strike="noStrike" cap="none" spc="0">
                <a:latin typeface="Microsoft Sans Serif"/>
                <a:ea typeface="Microsoft Sans Serif"/>
                <a:cs typeface="Microsoft Sans Serif"/>
              </a:rPr>
              <a:t>ighly employable for cloud</a:t>
            </a: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-providers</a:t>
            </a:r>
            <a:endParaRPr lang="en-US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VM-based approach could add a not-negligible overhead</a:t>
            </a:r>
            <a:r>
              <a:rPr lang="it-IT" sz="2000" b="1" strike="noStrike" cap="none" spc="0">
                <a:latin typeface="Microsoft Sans Serif"/>
                <a:ea typeface="Microsoft Sans Serif"/>
                <a:cs typeface="Microsoft Sans Serif"/>
              </a:rPr>
              <a:t> </a:t>
            </a: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for smartphone and IoT markets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however no official benchmarks are available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yet</a:t>
            </a:r>
            <a:endParaRPr lang="en-US" sz="16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marL="0" lvl="0" indent="0" algn="l" defTabSz="914400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None/>
              <a:defRPr/>
            </a:pPr>
            <a:endParaRPr lang="en-US" sz="2000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819388454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007790960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C4A3E22-7CD8-9C1F-BB2A-82E97D829D3A}" type="slidenum">
              <a:rPr lang="de-DE"/>
              <a:t>19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432335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399538" y="130491"/>
            <a:ext cx="9444764" cy="74232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Arm TrustZone vs Arm CCA (III)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2068410805" name="Segnaposto contenuto 2"/>
          <p:cNvSpPr>
            <a:spLocks noGrp="1"/>
          </p:cNvSpPr>
          <p:nvPr>
            <p:ph idx="1"/>
          </p:nvPr>
        </p:nvSpPr>
        <p:spPr bwMode="auto">
          <a:xfrm>
            <a:off x="593906" y="940720"/>
            <a:ext cx="8543925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Arm does not provided any attestation standard for TrustZone</a:t>
            </a:r>
            <a:endParaRPr lang="en-US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Microsoft Sans Serif"/>
                <a:ea typeface="Microsoft Sans Serif"/>
                <a:cs typeface="Microsoft Sans Serif"/>
              </a:rPr>
              <a:t>different products presents different and closed solutions</a:t>
            </a:r>
            <a:endParaRPr lang="en-US" sz="16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CCA attestation is currently under standardization process</a:t>
            </a: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will simplify implementation process</a:t>
            </a: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CCA attestation token leaves freedom to attester abou</a:t>
            </a: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t</a:t>
            </a: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what claims include into </a:t>
            </a:r>
            <a:r>
              <a:rPr lang="it-IT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the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token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this foster compliance to the need-to-know principle</a:t>
            </a:r>
            <a:endParaRPr lang="en-US" sz="16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however CCA attestation token raised privacy concerns</a:t>
            </a:r>
            <a:endParaRPr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two different attestation token share same platform token</a:t>
            </a:r>
            <a:endParaRPr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companies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relationships could be leaked</a:t>
            </a:r>
            <a:endParaRPr lang="en-US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Microsoft Sans Serif"/>
                <a:ea typeface="Microsoft Sans Serif"/>
                <a:cs typeface="Microsoft Sans Serif"/>
              </a:rPr>
              <a:t>end-point devices could be tracked among different services</a:t>
            </a:r>
            <a:endParaRPr sz="2000" b="0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2140785099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49"/>
            <a:ext cx="7954174" cy="365123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066593790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C4D9B06-221C-4236-CF56-F29AF7E234A0}" type="slidenum">
              <a:rPr lang="de-DE"/>
              <a:t>20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751479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399539" y="130491"/>
            <a:ext cx="9444764" cy="74233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it-IT" sz="4000" b="1">
                <a:solidFill>
                  <a:schemeClr val="tx2">
                    <a:lumMod val="76000"/>
                    <a:lumOff val="24000"/>
                  </a:schemeClr>
                </a:solidFill>
                <a:latin typeface="Microsoft Sans Serif"/>
                <a:ea typeface="Microsoft Sans Serif"/>
                <a:cs typeface="Microsoft Sans Serif"/>
              </a:rPr>
              <a:t>Conclusion</a:t>
            </a:r>
            <a:endParaRPr lang="en-US" b="1">
              <a:solidFill>
                <a:schemeClr val="tx2">
                  <a:lumMod val="76000"/>
                  <a:lumOff val="24000"/>
                </a:schemeClr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506015029" name="Segnaposto contenuto 2"/>
          <p:cNvSpPr>
            <a:spLocks noGrp="1"/>
          </p:cNvSpPr>
          <p:nvPr>
            <p:ph idx="1"/>
          </p:nvPr>
        </p:nvSpPr>
        <p:spPr bwMode="auto">
          <a:xfrm>
            <a:off x="593907" y="940721"/>
            <a:ext cx="85439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Arm CCA solves several TrustZone downsides through</a:t>
            </a:r>
            <a:endParaRPr strike="noStrike" cap="none" spc="0"/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strike="noStrike" cap="none" spc="0">
                <a:latin typeface="Microsoft Sans Serif"/>
                <a:ea typeface="Microsoft Sans Serif"/>
                <a:cs typeface="Microsoft Sans Serif"/>
              </a:rPr>
              <a:t>virtualization-based approach</a:t>
            </a:r>
            <a:endParaRPr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strike="noStrike" cap="none" spc="0">
                <a:latin typeface="Microsoft Sans Serif"/>
                <a:ea typeface="Microsoft Sans Serif"/>
                <a:cs typeface="Microsoft Sans Serif"/>
              </a:rPr>
              <a:t>RME hardware primitives</a:t>
            </a:r>
            <a:endParaRPr lang="en-US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strike="noStrike" cap="none" spc="0">
                <a:latin typeface="Microsoft Sans Serif"/>
                <a:ea typeface="Microsoft Sans Serif"/>
                <a:cs typeface="Microsoft Sans Serif"/>
              </a:rPr>
              <a:t>dedicated root state</a:t>
            </a:r>
            <a:endParaRPr lang="it-IT" sz="200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0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50000"/>
              <a:buFont typeface="Wingdings"/>
              <a:buChar char="§"/>
              <a:defRPr/>
            </a:pPr>
            <a:r>
              <a:rPr lang="en-US" sz="2000" b="1" strike="noStrike" cap="none" spc="0">
                <a:latin typeface="Microsoft Sans Serif"/>
                <a:ea typeface="Microsoft Sans Serif"/>
                <a:cs typeface="Microsoft Sans Serif"/>
              </a:rPr>
              <a:t>however there is a lot of work about some concerns</a:t>
            </a:r>
            <a:endParaRPr lang="en-US" sz="2000" b="1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privacy (for attestation)</a:t>
            </a:r>
            <a:endParaRPr lang="en-US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availability of the realms</a:t>
            </a:r>
            <a:endParaRPr lang="en-US" sz="2000" b="0" strike="noStrike" cap="none" spc="0">
              <a:latin typeface="Microsoft Sans Serif"/>
              <a:ea typeface="Microsoft Sans Serif"/>
              <a:cs typeface="Microsoft Sans Serif"/>
            </a:endParaRPr>
          </a:p>
          <a:p>
            <a:pPr lvl="1" algn="l" defTabSz="914400" rtl="0">
              <a:lnSpc>
                <a:spcPct val="90000"/>
              </a:lnSpc>
              <a:spcBef>
                <a:spcPts val="719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Wingdings"/>
              <a:buChar char="§"/>
              <a:defRPr/>
            </a:pPr>
            <a:r>
              <a:rPr lang="en-US" sz="2000" b="0" strike="noStrike" cap="none" spc="0">
                <a:latin typeface="Microsoft Sans Serif"/>
                <a:ea typeface="Microsoft Sans Serif"/>
                <a:cs typeface="Microsoft Sans Serif"/>
              </a:rPr>
              <a:t>performance overhead of end-user devices</a:t>
            </a:r>
            <a:endParaRPr sz="2400" b="0" strike="noStrike" cap="none" spc="0"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194015566" name="Segnaposto piè di pagina 3"/>
          <p:cNvSpPr>
            <a:spLocks noGrp="1"/>
          </p:cNvSpPr>
          <p:nvPr>
            <p:ph type="ftr" sz="quarter" idx="11"/>
          </p:nvPr>
        </p:nvSpPr>
        <p:spPr bwMode="auto">
          <a:xfrm>
            <a:off x="685872" y="6356350"/>
            <a:ext cx="7954174" cy="365124"/>
          </a:xfrm>
        </p:spPr>
        <p:txBody>
          <a:bodyPr/>
          <a:lstStyle/>
          <a:p>
            <a:pPr>
              <a:defRPr/>
            </a:pPr>
            <a:r>
              <a:rPr/>
              <a:t>Arm CCA - AISS Workgroup |  Antonio Di Ponzio (s347920) -​ Nicolò Dalmazzo (s338766) | A.y. 2025-2026</a:t>
            </a:r>
            <a:endParaRPr/>
          </a:p>
        </p:txBody>
      </p:sp>
      <p:sp>
        <p:nvSpPr>
          <p:cNvPr id="1680382565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2A5F8EC-C9CB-102F-F0FE-DDECE9DE265B}" type="slidenum">
              <a:rPr lang="de-DE"/>
              <a:t>21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onlyoffice/9.2.1.8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Nicolò Dalmazzo</cp:lastModifiedBy>
  <cp:revision>29</cp:revision>
  <dcterms:created xsi:type="dcterms:W3CDTF">2025-12-18T17:52:25Z</dcterms:created>
  <dcterms:modified xsi:type="dcterms:W3CDTF">2026-01-13T16:24:51Z</dcterms:modified>
</cp:coreProperties>
</file>